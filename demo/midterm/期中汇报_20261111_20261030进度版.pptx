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29f87a7c9b4ce7" /><Relationship Type="http://schemas.openxmlformats.org/officeDocument/2006/relationships/extended-properties" Target="/docProps/app.xml" Id="R0ff53e7dc3b34a7a" /><Relationship Type="http://schemas.openxmlformats.org/officeDocument/2006/relationships/officeDocument" Target="/ppt/presentation.xml" Id="R579c557616ad41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9e244d3b04494e"/>
  </p:sldMasterIdLst>
  <p:notesMasterIdLst>
    <p:notesMasterId xmlns:r="http://schemas.openxmlformats.org/officeDocument/2006/relationships" r:id="R9fe5ef9ee0944cbd"/>
  </p:notesMasterIdLst>
  <p:sldIdLst>
    <p:sldId xmlns:r="http://schemas.openxmlformats.org/officeDocument/2006/relationships" id="256" r:id="R3c33d44a87784f70"/>
    <p:sldId xmlns:r="http://schemas.openxmlformats.org/officeDocument/2006/relationships" id="257" r:id="R82f1ccfd9e734cd6"/>
    <p:sldId xmlns:r="http://schemas.openxmlformats.org/officeDocument/2006/relationships" id="258" r:id="Rd763178f5be5482d"/>
    <p:sldId xmlns:r="http://schemas.openxmlformats.org/officeDocument/2006/relationships" id="259" r:id="Rdb08ed3045574138"/>
    <p:sldId xmlns:r="http://schemas.openxmlformats.org/officeDocument/2006/relationships" id="260" r:id="Rc2456ece647f40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96a7d0fc7d4db2" /><Relationship Type="http://schemas.openxmlformats.org/officeDocument/2006/relationships/slideMaster" Target="/ppt/slideMasters/slideMaster1.xml" Id="R459e244d3b04494e" /><Relationship Type="http://schemas.openxmlformats.org/officeDocument/2006/relationships/notesMaster" Target="/ppt/notesMasters/notesMaster1.xml" Id="R9fe5ef9ee0944cbd" /><Relationship Type="http://schemas.openxmlformats.org/officeDocument/2006/relationships/presProps" Target="/ppt/presProps.xml" Id="R0265086fac944ca0" /><Relationship Type="http://schemas.openxmlformats.org/officeDocument/2006/relationships/tableStyles" Target="/ppt/tableStyles.xml" Id="R4cc1774c89ea4188" /><Relationship Type="http://schemas.openxmlformats.org/officeDocument/2006/relationships/slide" Target="/ppt/slides/slide1.xml" Id="R3c33d44a87784f70" /><Relationship Type="http://schemas.openxmlformats.org/officeDocument/2006/relationships/slide" Target="/ppt/slides/slide2.xml" Id="R82f1ccfd9e734cd6" /><Relationship Type="http://schemas.openxmlformats.org/officeDocument/2006/relationships/slide" Target="/ppt/slides/slide3.xml" Id="Rd763178f5be5482d" /><Relationship Type="http://schemas.openxmlformats.org/officeDocument/2006/relationships/slide" Target="/ppt/slides/slide4.xml" Id="Rdb08ed3045574138" /><Relationship Type="http://schemas.openxmlformats.org/officeDocument/2006/relationships/slide" Target="/ppt/slides/slide5.xml" Id="Rc2456ece647f40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19ccb9388b44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167bdf5e4d41f3" /><Relationship Type="http://schemas.openxmlformats.org/officeDocument/2006/relationships/notesMaster" Target="/ppt/notesMasters/notesMaster1.xml" Id="R2141ec5b58324d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e895cf6d754077" /><Relationship Type="http://schemas.openxmlformats.org/officeDocument/2006/relationships/notesMaster" Target="/ppt/notesMasters/notesMaster1.xml" Id="R8a7eb16d8ebe4b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8d6c46d9a84cf7" /><Relationship Type="http://schemas.openxmlformats.org/officeDocument/2006/relationships/notesMaster" Target="/ppt/notesMasters/notesMaster1.xml" Id="Raf52fc3657534e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5fda35fe1846b7" /><Relationship Type="http://schemas.openxmlformats.org/officeDocument/2006/relationships/notesMaster" Target="/ppt/notesMasters/notesMaster1.xml" Id="R3bff461b3ea345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13190e1e1a4635" /><Relationship Type="http://schemas.openxmlformats.org/officeDocument/2006/relationships/notesMaster" Target="/ppt/notesMasters/notesMaster1.xml" Id="Rd323cd222a1143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35秒。我们研究开源项目里分散的历史资料：当前代码能告诉我们做了什么，却不一定告诉我们为什么。目标是输入公开Python仓库链接，自动取得有限资料，建立显式关系，并让答案能回到原文。Flask是主要实验对象，换仓库需要重新采集，不是复用Flask事实。本页为2026-10-30进度版。来源：课程选题_更新.pdf第1–2页；仓库统一契约C1、C2、C5–C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55秒。P1是唯一任务编排者。relore提供采集和检索底座；P3从官方git和静态源码给代码、提交与版本事实；P4调用DeepSeek提取决定、采用状态和原文明示理由。P1校验证据位置及实体端点，P2存显式图并用同一来源池检索，统一回答器生成带证据的全部claims，P5只展示。闭环不会让用户手填线程或补边。图谱连接分散材料，但不会补足缺失事实。来源：docs/public_interfaces.md、docs/code.md、docs/graph_query.md、docs/p4/models.md。架构图为原生可编辑图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90秒，必要时切到原文或展示页。本例来自P4已登记的开发主题。原文说，为了适应Werkzeug尚未发布而调整这里的测试。因此本地决定是调整Flask测试，原因要写入rationale并有原文。另一句client.query的新增属于Werkzeug，不能因为写在Flask讨论里，就抽成Flask新增API。早期试跑犯过这个错误，新回归同时保留本地理由和外库归属。这说明引文偏移正确仍不等于语义正确。当前回答器真实返回两条claims，本页完整呈现两项含义。来源：deliveries/P4/2026-10-30/model_validation.json answer_replay；midterm_notes.md；原文https://github.com/pallets/flask/pull/6133 。数据版本p4_dev_6133_20261030，run_id=17c1e34047352702632cae4cdae17fccc7e251606920770aa241ec2452d6bb0c。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55秒。不要把模块实现、toy服务通过和完整Flask验收混在一起。真实任务已经自动取得369来源、40完整讨论和24文件快照；当下仍在抽取接入阶段，所以页面明确暂停且没有问答框。P1统一任务和配置，P2负责图与查询，P3负责代码版本，P4负责底座移植和模型，P5负责页面和展示，P6负责独立实验。保留P4独立前期调研、方案、架构、框架和试跑的累计贡献，本轮实施是AI角色完成。来源：同一BuildJob b61942bf06b742e48860d064dffe6df2及P1 coverage；各角色2026-10-30 handoff；P4/2026-10-27/handoff.md。本页为阶段事实，不是正式质量实验成绩。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35秒，总计约4分30秒，另留30秒切换。我们不预设知识图谱一定更好。抽取实验由完整来源独立生成模型参考，再统计TP、FP、FN和理由漏填；正式问题与参考隔离，不拿测试答案修改方法。下游A/B共享来源和回答器，只改变图扩展，报告事实覆盖、证据召回、无依据断言、弃答、时间和费用。当前没有正式F1或胜出结论。下一步先完成同一真实URL任务的自由提问，再按里程碑冻结方法，完成第二小库与Windows/macOS最小验证。来源：统一执行契约C8–C9；总规划第6节；课程选题_更新.pdf第1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e4dff97a5049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c50cd644d04c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a69e1b9a1042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43bbbe40e64a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b99903938844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0a1e8cf68847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FCE0DC-2236-4431-957E-2737205FB4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3B6248-89AB-438A-9B28-AFA72F1839F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0F4696B-4FE8-4C6F-BA32-48B3E3E4B3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C4048A-2435-4367-AF5D-9B657C53BB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BE656D2-1554-4313-8D5C-5DDAA79EE5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B2771A-E815-491E-BD76-7508A4EA65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92F6A8-413C-481D-872D-FAC917B7EA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29866C0-05B0-4406-97F4-A68999BBB1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2C14E1-973E-428E-B5E0-5C6AD28770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B6B4CB-B6E7-4B2D-84FE-BD73821810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de74acfe6f4adf" /><Relationship Type="http://schemas.openxmlformats.org/officeDocument/2006/relationships/slideLayout" Target="/ppt/slideLayouts/slideLayout1.xml" Id="Reb3b6efc24c946a5" /><Relationship Type="http://schemas.openxmlformats.org/officeDocument/2006/relationships/slideLayout" Target="/ppt/slideLayouts/slideLayout2.xml" Id="R0172cc6fb011443d" /><Relationship Type="http://schemas.openxmlformats.org/officeDocument/2006/relationships/slideLayout" Target="/ppt/slideLayouts/slideLayout3.xml" Id="R6338528e805d49f5" /><Relationship Type="http://schemas.openxmlformats.org/officeDocument/2006/relationships/slideLayout" Target="/ppt/slideLayouts/slideLayout4.xml" Id="Rb0b9cefc48954e54" /><Relationship Type="http://schemas.openxmlformats.org/officeDocument/2006/relationships/slideLayout" Target="/ppt/slideLayouts/slideLayout5.xml" Id="Rbc3c961639ac49d2" /><Relationship Type="http://schemas.openxmlformats.org/officeDocument/2006/relationships/slideLayout" Target="/ppt/slideLayouts/slideLayout6.xml" Id="Rbe7631db839848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3b6efc24c946a5"/>
    <p:sldLayoutId xmlns:r="http://schemas.openxmlformats.org/officeDocument/2006/relationships" id="2147483650" r:id="R0172cc6fb011443d"/>
    <p:sldLayoutId xmlns:r="http://schemas.openxmlformats.org/officeDocument/2006/relationships" id="2147483651" r:id="R6338528e805d49f5"/>
    <p:sldLayoutId xmlns:r="http://schemas.openxmlformats.org/officeDocument/2006/relationships" id="2147483652" r:id="Rb0b9cefc48954e54"/>
    <p:sldLayoutId xmlns:r="http://schemas.openxmlformats.org/officeDocument/2006/relationships" id="2147483653" r:id="Rbc3c961639ac49d2"/>
    <p:sldLayoutId xmlns:r="http://schemas.openxmlformats.org/officeDocument/2006/relationships" id="2147483654" r:id="Rbe7631db839848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c3bb432a8b4fb1" /><Relationship Type="http://schemas.openxmlformats.org/officeDocument/2006/relationships/notesSlide" Target="/ppt/notesSlides/notesSlide1.xml" Id="R431718ff2a1e4b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1801e412db4033" /><Relationship Type="http://schemas.openxmlformats.org/officeDocument/2006/relationships/notesSlide" Target="/ppt/notesSlides/notesSlide2.xml" Id="Re07104ac8ea746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6e99bc40914940" /><Relationship Type="http://schemas.openxmlformats.org/officeDocument/2006/relationships/notesSlide" Target="/ppt/notesSlides/notesSlide3.xml" Id="R9609d51610c24e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a1171961dc4139" /><Relationship Type="http://schemas.openxmlformats.org/officeDocument/2006/relationships/notesSlide" Target="/ppt/notesSlides/notesSlide4.xml" Id="Rf9019f3d730b4d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f8fbd1012e4811" /><Relationship Type="http://schemas.openxmlformats.org/officeDocument/2006/relationships/notesSlide" Target="/ppt/notesSlides/notesSlide5.xml" Id="Rc5b3053f59214f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04EA3-65B1-4F15-B70D-CCE4A1B7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开源项目历史知识图谱</a:t>
            </a:r>
          </a:p>
          <a:p xmlns:a="http://schemas.openxmlformats.org/drawingml/2006/main">
            <a:pPr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与可追溯问答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07CFA-97F5-43AF-BEF1-D1712F9F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defPPr>
            <a:lvl1pPr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1pPr>
            <a:lvl2pPr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2pPr>
            <a:lvl3pPr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3pPr>
            <a:lvl4pPr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4pPr>
            <a:lvl5pPr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5pPr>
            <a:lvl6pPr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6pPr>
            <a:lvl7pPr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7pPr>
            <a:lvl8pPr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8pPr>
            <a:lvl9pPr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pPr>
            <a:r>
              <a: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rPr>
              <a:t>基于 relore · 以 Flask 为主要实验对象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DA55B-2946-4A85-90A4-49209C11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10382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一段代码为什么这样改？</a:t>
            </a:r>
          </a:p>
          <a:p xmlns:a="http://schemas.openxmlformats.org/drawingml/2006/main">
            <a:pPr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把讨论理由、PR、提交和文件联系起来，回答时回到原文。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68D95-60A1-4CCB-BFB0-EBD9D2DB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知识图谱课程 · 2026年11月11日期中汇报</a:t>
            </a:r>
          </a:p>
          <a:p xmlns:a="http://schemas.openxmlformats.org/drawingml/2006/main">
            <a: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当前进度截至2026年10月30日</a:t>
            </a:r>
          </a:p>
        </p:txBody>
      </p:sp>
    </p:spTree>
    <p:extLst>
      <p:ext uri="{BB962C8B-B14F-4D97-AF65-F5344CB8AC3E}">
        <p14:creationId xmlns:p14="http://schemas.microsoft.com/office/powerpoint/2010/main" val="18162742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AA4D6-EA9B-4BF7-A360-35CB69818F60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543300" y="45720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3A37D-7D3A-4DFF-A25A-D9C3F1D98A62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524750" y="45720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F085C-AA10-4514-9398-91DF19A7AE3C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0077450" y="3009900"/>
            <a:ext cx="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05512-DF04-45C3-9C2B-97995961428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24750" y="24765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6ACDE-360B-4933-A74D-A4DADBB4903F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43300" y="24765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797A9-4D47-4947-9DAD-83F4EF9D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自动构建与证据约束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4FE62-1959-4B06-8EF6-340F80B1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912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2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2DAF2-D84B-412C-8307-269D7672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7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URL与来源</a:t>
            </a:r>
          </a:p>
          <a:p xmlns:a="http://schemas.openxmlformats.org/drawingml/2006/main">
            <a: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P1 · relore采集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09EE1-E398-482F-87BF-D62D91DB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431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7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代码与版本</a:t>
            </a:r>
          </a:p>
          <a:p xmlns:a="http://schemas.openxmlformats.org/drawingml/2006/main">
            <a: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P3 · git / AST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A1C14-3779-4D29-AAB0-FB4F6CD8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431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7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决定与理由</a:t>
            </a:r>
          </a:p>
          <a:p xmlns:a="http://schemas.openxmlformats.org/drawingml/2006/main">
            <a: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P4 · DeepSeek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0B8DC-B5FF-4ECC-8AA9-8ECB1772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386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7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校验与冻结</a:t>
            </a:r>
          </a:p>
          <a:p xmlns:a="http://schemas.openxmlformats.org/drawingml/2006/main">
            <a: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P1 · 原文与关系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6AE52-5B21-4D5E-99B1-745641F3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386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7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同源检索与图</a:t>
            </a:r>
          </a:p>
          <a:p xmlns:a="http://schemas.openxmlformats.org/drawingml/2006/main">
            <a: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P2 · Postgres / Neo4j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08F9E-87AD-4EFE-B4CC-ADD2F34A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7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问答与原文</a:t>
            </a:r>
          </a:p>
          <a:p xmlns:a="http://schemas.openxmlformats.org/drawingml/2006/main">
            <a: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P4回答器 → P5页面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70F32-E360-491C-8AC3-1A252025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图记录串联已有事实；模型抽取决定与理由，并根据检索材料回答。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8EAA8-C36E-42D2-A727-A831808A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不训练基础模型；没有原文支持的关系和动机保留为缺口。</a:t>
            </a:r>
          </a:p>
        </p:txBody>
      </p:sp>
    </p:spTree>
    <p:extLst>
      <p:ext uri="{BB962C8B-B14F-4D97-AF65-F5344CB8AC3E}">
        <p14:creationId xmlns:p14="http://schemas.microsoft.com/office/powerpoint/2010/main" val="20693823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ADC8E-DCBA-4E53-A351-C2225F63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开发回归例：Flask PR #6133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7B92A-570C-4B21-BCDD-012F9EC7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912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3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2D41F-7497-4300-AF0E-01D56204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defPPr>
            <a:lvl1pPr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1pPr>
            <a:lvl2pPr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2pPr>
            <a:lvl3pPr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3pPr>
            <a:lvl4pPr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4pPr>
            <a:lvl5pPr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5pPr>
            <a:lvl6pPr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6pPr>
            <a:lvl7pPr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7pPr>
            <a:lvl8pPr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8pPr>
            <a:lvl9pPr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pPr>
            <a:r>
              <a: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rPr>
              <a:t>问题：为什么调整测试？client.query 属于哪个项目？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131D9-C1AD-424F-BF30-EFA06DA4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① 本地决定：调整 Flask 测试</a:t>
            </a:r>
          </a:p>
          <a:p xmlns:a="http://schemas.openxmlformats.org/drawingml/2006/main">
            <a:pPr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    明示理由：Werkzeug 尚未发布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E24FE-B4FD-48DE-AD91-63864811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“Adjusted the test here to account for Werkzeug not being released yet.”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1CA13-77B0-4C68-A387-DC1309CB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② 归属区分：client.query 新增于 Werkzeug PR #3219</a:t>
            </a:r>
          </a:p>
          <a:p xmlns:a="http://schemas.openxmlformats.org/drawingml/2006/main">
            <a: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    保存外库候选，不生成 Flask 的新增决定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7CD0E-A957-43BB-9D7B-A07EC0CE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原文：pallets/flask/pull/6133 · davidism · [282, 352)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928CB-5B32-45CB-9A70-9B4A95D1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7425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真实模型开发回归；不计正式测试成绩，也不替代仅输入URL的自动验收。</a:t>
            </a:r>
          </a:p>
        </p:txBody>
      </p:sp>
    </p:spTree>
    <p:extLst>
      <p:ext uri="{BB962C8B-B14F-4D97-AF65-F5344CB8AC3E}">
        <p14:creationId xmlns:p14="http://schemas.microsoft.com/office/powerpoint/2010/main" val="17644679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F6612-63A0-4154-AA26-9BA2E270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当前进度与协作分工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DD0BD-518A-460C-B806-54C5556B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912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4 / 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2B3D4-1BB2-4925-BC63-257E4EE6E38F}"/>
              </a:ext>
            </a:extLst>
          </p:cNvPr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3419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9677400"/>
              </a:tblGrid>
              <a:tr h="4476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ongti SC"/>
                          <a:ea typeface="Songti SC"/>
                          <a:cs typeface="Songti SC"/>
                        </a:rPr>
                        <a:t>角色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8E0E4"/>
                      </a:solidFill>
                      <a:prstDash val="solid"/>
                    </a:lnL>
                    <a:lnR w="7620">
                      <a:solidFill>
                        <a:srgbClr val="D8E0E4"/>
                      </a:solidFill>
                      <a:prstDash val="solid"/>
                    </a:lnR>
                    <a:lnT w="7620">
                      <a:solidFill>
                        <a:srgbClr val="D8E0E4"/>
                      </a:solidFill>
                      <a:prstDash val="solid"/>
                    </a:lnT>
                    <a:lnB w="7620">
                      <a:solidFill>
                        <a:srgbClr val="D8E0E4"/>
                      </a:solidFill>
                      <a:prstDash val="solid"/>
                    </a:lnB>
                    <a:solidFill>
                      <a:srgbClr val="1833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ongti SC"/>
                          <a:ea typeface="Songti SC"/>
                          <a:cs typeface="Songti SC"/>
                        </a:rPr>
                        <a:t>已有产物与当前状态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8E0E4"/>
                      </a:solidFill>
                      <a:prstDash val="solid"/>
                    </a:lnR>
                    <a:lnT w="7620">
                      <a:solidFill>
                        <a:srgbClr val="D8E0E4"/>
                      </a:solidFill>
                      <a:prstDash val="solid"/>
                    </a:lnT>
                    <a:lnB w="7620">
                      <a:solidFill>
                        <a:srgbClr val="D8E0E4"/>
                      </a:solidFill>
                      <a:prstDash val="solid"/>
                    </a:lnB>
                    <a:solidFill>
                      <a:srgbClr val="18334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A"/>
                          </a:solidFill>
                          <a:latin typeface="Songti SC"/>
                          <a:ea typeface="Songti SC"/>
                          <a:cs typeface="Songti SC"/>
                        </a:rPr>
                        <a:t>P1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8E0E4"/>
                      </a:solidFill>
                      <a:prstDash val="solid"/>
                    </a:lnL>
                    <a:lnR w="7620">
                      <a:solidFill>
                        <a:srgbClr val="D8E0E4"/>
                      </a:solidFill>
                      <a:prstDash val="solid"/>
                    </a:lnR>
                    <a:lnB w="7620">
                      <a:solidFill>
                        <a:srgbClr val="D8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A"/>
                          </a:solidFill>
                          <a:latin typeface="Songti SC"/>
                          <a:ea typeface="Songti SC"/>
                          <a:cs typeface="Songti SC"/>
                        </a:rPr>
                        <a:t>URL任务与恢复；真实采集369来源 / 40完整讨论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8E0E4"/>
                      </a:solidFill>
                      <a:prstDash val="solid"/>
                    </a:lnR>
                    <a:lnB w="7620">
                      <a:solidFill>
                        <a:srgbClr val="D8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A"/>
                          </a:solidFill>
                          <a:latin typeface="Songti SC"/>
                          <a:ea typeface="Songti SC"/>
                          <a:cs typeface="Songti SC"/>
                        </a:rPr>
                        <a:t>P2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8E0E4"/>
                      </a:solidFill>
                      <a:prstDash val="solid"/>
                    </a:lnL>
                    <a:lnR w="7620">
                      <a:solidFill>
                        <a:srgbClr val="D8E0E4"/>
                      </a:solidFill>
                      <a:prstDash val="solid"/>
                    </a:lnR>
                    <a:lnB w="7620">
                      <a:solidFill>
                        <a:srgbClr val="D8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A"/>
                          </a:solidFill>
                          <a:latin typeface="Songti SC"/>
                          <a:ea typeface="Songti SC"/>
                          <a:cs typeface="Songti SC"/>
                        </a:rPr>
                        <a:t>Neo4j导入、检索与公共查询；toy真实服务验证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8E0E4"/>
                      </a:solidFill>
                      <a:prstDash val="solid"/>
                    </a:lnR>
                    <a:lnB w="7620">
                      <a:solidFill>
                        <a:srgbClr val="D8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A"/>
                          </a:solidFill>
                          <a:latin typeface="Songti SC"/>
                          <a:ea typeface="Songti SC"/>
                          <a:cs typeface="Songti SC"/>
                        </a:rPr>
                        <a:t>P3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8E0E4"/>
                      </a:solidFill>
                      <a:prstDash val="solid"/>
                    </a:lnL>
                    <a:lnR w="7620">
                      <a:solidFill>
                        <a:srgbClr val="D8E0E4"/>
                      </a:solidFill>
                      <a:prstDash val="solid"/>
                    </a:lnR>
                    <a:lnB w="7620">
                      <a:solidFill>
                        <a:srgbClr val="D8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A"/>
                          </a:solidFill>
                          <a:latin typeface="Songti SC"/>
                          <a:ea typeface="Songti SC"/>
                          <a:cs typeface="Songti SC"/>
                        </a:rPr>
                        <a:t>自动代码与版本事实；Flask已有24个文件快照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8E0E4"/>
                      </a:solidFill>
                      <a:prstDash val="solid"/>
                    </a:lnR>
                    <a:lnB w="7620">
                      <a:solidFill>
                        <a:srgbClr val="D8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A"/>
                          </a:solidFill>
                          <a:latin typeface="Songti SC"/>
                          <a:ea typeface="Songti SC"/>
                          <a:cs typeface="Songti SC"/>
                        </a:rPr>
                        <a:t>P4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8E0E4"/>
                      </a:solidFill>
                      <a:prstDash val="solid"/>
                    </a:lnL>
                    <a:lnR w="7620">
                      <a:solidFill>
                        <a:srgbClr val="D8E0E4"/>
                      </a:solidFill>
                      <a:prstDash val="solid"/>
                    </a:lnR>
                    <a:lnB w="7620">
                      <a:solidFill>
                        <a:srgbClr val="D8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A"/>
                          </a:solidFill>
                          <a:latin typeface="Songti SC"/>
                          <a:ea typeface="Songti SC"/>
                          <a:cs typeface="Songti SC"/>
                        </a:rPr>
                        <a:t>采集器移植、模型网关、抽取与回答；真实开发请求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8E0E4"/>
                      </a:solidFill>
                      <a:prstDash val="solid"/>
                    </a:lnR>
                    <a:lnB w="7620">
                      <a:solidFill>
                        <a:srgbClr val="D8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A"/>
                          </a:solidFill>
                          <a:latin typeface="Songti SC"/>
                          <a:ea typeface="Songti SC"/>
                          <a:cs typeface="Songti SC"/>
                        </a:rPr>
                        <a:t>P5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8E0E4"/>
                      </a:solidFill>
                      <a:prstDash val="solid"/>
                    </a:lnL>
                    <a:lnR w="7620">
                      <a:solidFill>
                        <a:srgbClr val="D8E0E4"/>
                      </a:solidFill>
                      <a:prstDash val="solid"/>
                    </a:lnR>
                    <a:lnB w="7620">
                      <a:solidFill>
                        <a:srgbClr val="D8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A"/>
                          </a:solidFill>
                          <a:latin typeface="Songti SC"/>
                          <a:ea typeface="Songti SC"/>
                          <a:cs typeface="Songti SC"/>
                        </a:rPr>
                        <a:t>Streamlit入口、状态与证据展示；15项界面检查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8E0E4"/>
                      </a:solidFill>
                      <a:prstDash val="solid"/>
                    </a:lnR>
                    <a:lnB w="7620">
                      <a:solidFill>
                        <a:srgbClr val="D8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A"/>
                          </a:solidFill>
                          <a:latin typeface="Songti SC"/>
                          <a:ea typeface="Songti SC"/>
                          <a:cs typeface="Songti SC"/>
                        </a:rPr>
                        <a:t>P6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8E0E4"/>
                      </a:solidFill>
                      <a:prstDash val="solid"/>
                    </a:lnL>
                    <a:lnR w="7620">
                      <a:solidFill>
                        <a:srgbClr val="D8E0E4"/>
                      </a:solidFill>
                      <a:prstDash val="solid"/>
                    </a:lnR>
                    <a:lnB w="7620">
                      <a:solidFill>
                        <a:srgbClr val="D8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A"/>
                          </a:solidFill>
                          <a:latin typeface="Songti SC"/>
                          <a:ea typeface="Songti SC"/>
                          <a:cs typeface="Songti SC"/>
                        </a:rPr>
                        <a:t>独立参考、公平对照与统计；正式结果待完成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8E0E4"/>
                      </a:solidFill>
                      <a:prstDash val="solid"/>
                    </a:lnR>
                    <a:lnB w="7620">
                      <a:solidFill>
                        <a:srgbClr val="D8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B3880-5A87-45E4-8A78-523691F4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defPPr>
            <a:lvl1pPr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1pPr>
            <a:lvl2pPr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2pPr>
            <a:lvl3pPr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3pPr>
            <a:lvl4pPr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4pPr>
            <a:lvl5pPr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5pPr>
            <a:lvl6pPr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6pPr>
            <a:lvl7pPr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7pPr>
            <a:lvl8pPr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8pPr>
            <a:lvl9pPr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pPr>
            <a:r>
              <a: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rPr>
              <a:t>完整 Flask URL 闭环仍在联调：当前任务停在抽取阶段，尚未发布可查询数据。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2278E-20FE-4FB0-A7F1-B638DA20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P4前期独立完成调研、方案与架构、协作框架及探索性试跑。</a:t>
            </a:r>
          </a:p>
          <a:p xmlns:a="http://schemas.openxmlformats.org/drawingml/2006/main">
            <a: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本轮P1–P6实施由AI角色完成；成员承担理解、课堂表达和真实互评。</a:t>
            </a:r>
          </a:p>
        </p:txBody>
      </p:sp>
    </p:spTree>
    <p:extLst>
      <p:ext uri="{BB962C8B-B14F-4D97-AF65-F5344CB8AC3E}">
        <p14:creationId xmlns:p14="http://schemas.microsoft.com/office/powerpoint/2010/main" val="496905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8D7B3-6F49-4B14-97B1-F0AC4748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实验设计与下一阶段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CB46D-1A02-4D66-AE64-F26DBD79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912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5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3128D-1DAF-4ADC-B1AD-99300AE6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defPPr>
            <a:lvl1pPr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1pPr>
            <a:lvl2pPr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2pPr>
            <a:lvl3pPr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3pPr>
            <a:lvl4pPr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4pPr>
            <a:lvl5pPr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5pPr>
            <a:lvl6pPr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6pPr>
            <a:lvl7pPr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7pPr>
            <a:lvl8pPr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8pPr>
            <a:lvl9pPr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pPr>
            <a:r>
              <a: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rPr>
              <a:t>知识抽取实验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594B1-3CE6-40E2-8065-A6BCC60B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10763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完整原文 → 独立模型参考与复核 → 一对一匹配</a:t>
            </a:r>
          </a:p>
          <a:p xmlns:a="http://schemas.openxmlformats.org/drawingml/2006/main">
            <a: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统计决定 Precision / Recall / F1、理由完整性及错误类型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DF881-00C2-493B-84C6-542A4A4E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defPPr>
            <a:lvl1pPr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1pPr>
            <a:lvl2pPr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2pPr>
            <a:lvl3pPr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3pPr>
            <a:lvl4pPr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4pPr>
            <a:lvl5pPr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5pPr>
            <a:lvl6pPr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6pPr>
            <a:lvl7pPr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7pPr>
            <a:lvl8pPr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8pPr>
            <a:lvl9pPr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pPr>
            <a:r>
              <a: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rPr>
              <a:t>下游问答对照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27805-160D-403B-AF05-5D40E0CA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A：relore检索 + 统一回答器</a:t>
            </a:r>
          </a:p>
          <a:p xmlns:a="http://schemas.openxmlformats.org/drawingml/2006/main">
            <a: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B：同样的检索种子 + 图谱扩展 + 同一回答器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B4A92-6AC7-479A-BB6F-8C19FED2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固定同来源、同模型、同提示、同上下文预算；报告收益和代价。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53024-63B3-4C15-996A-9FDEC6A4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下一步：完成真实URL问答 → 冻结方法与主题隔离 → 第二小库、双平台与正式实验</a:t>
            </a:r>
          </a:p>
        </p:txBody>
      </p:sp>
    </p:spTree>
    <p:extLst>
      <p:ext uri="{BB962C8B-B14F-4D97-AF65-F5344CB8AC3E}">
        <p14:creationId xmlns:p14="http://schemas.microsoft.com/office/powerpoint/2010/main" val="13371687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2026-10-29T23:46:25.6150000Z</dcterms:created>
  <dcterms:modified xsi:type="dcterms:W3CDTF">2026-10-29T23:46:25.6150000Z</dcterms:modified>
</coreProperties>
</file>