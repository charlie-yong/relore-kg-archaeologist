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ca5f492c7d4a9f" /><Relationship Type="http://schemas.openxmlformats.org/officeDocument/2006/relationships/extended-properties" Target="/docProps/app.xml" Id="Re94f5fa1e3734fff" /><Relationship Type="http://schemas.openxmlformats.org/officeDocument/2006/relationships/officeDocument" Target="/ppt/presentation.xml" Id="R1acd1d61f7bf4a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350480acca4584"/>
  </p:sldMasterIdLst>
  <p:notesMasterIdLst>
    <p:notesMasterId xmlns:r="http://schemas.openxmlformats.org/officeDocument/2006/relationships" r:id="Re8758cff0a574dfc"/>
  </p:notesMasterIdLst>
  <p:sldIdLst>
    <p:sldId xmlns:r="http://schemas.openxmlformats.org/officeDocument/2006/relationships" id="256" r:id="Rb2bb17dcd86e4eec"/>
    <p:sldId xmlns:r="http://schemas.openxmlformats.org/officeDocument/2006/relationships" id="257" r:id="Rfdef27cd85334cc7"/>
    <p:sldId xmlns:r="http://schemas.openxmlformats.org/officeDocument/2006/relationships" id="258" r:id="Rc9e1d52d883a404f"/>
    <p:sldId xmlns:r="http://schemas.openxmlformats.org/officeDocument/2006/relationships" id="259" r:id="R537e699afeeb43c3"/>
    <p:sldId xmlns:r="http://schemas.openxmlformats.org/officeDocument/2006/relationships" id="260" r:id="Rb293b382358542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fbc3ec57440cb" /><Relationship Type="http://schemas.openxmlformats.org/officeDocument/2006/relationships/slideMaster" Target="/ppt/slideMasters/slideMaster1.xml" Id="R69350480acca4584" /><Relationship Type="http://schemas.openxmlformats.org/officeDocument/2006/relationships/notesMaster" Target="/ppt/notesMasters/notesMaster1.xml" Id="Re8758cff0a574dfc" /><Relationship Type="http://schemas.openxmlformats.org/officeDocument/2006/relationships/presProps" Target="/ppt/presProps.xml" Id="R612e09dd31de4470" /><Relationship Type="http://schemas.openxmlformats.org/officeDocument/2006/relationships/tableStyles" Target="/ppt/tableStyles.xml" Id="R9a29b2ef65bb4dab" /><Relationship Type="http://schemas.openxmlformats.org/officeDocument/2006/relationships/slide" Target="/ppt/slides/slide1.xml" Id="Rb2bb17dcd86e4eec" /><Relationship Type="http://schemas.openxmlformats.org/officeDocument/2006/relationships/slide" Target="/ppt/slides/slide2.xml" Id="Rfdef27cd85334cc7" /><Relationship Type="http://schemas.openxmlformats.org/officeDocument/2006/relationships/slide" Target="/ppt/slides/slide3.xml" Id="Rc9e1d52d883a404f" /><Relationship Type="http://schemas.openxmlformats.org/officeDocument/2006/relationships/slide" Target="/ppt/slides/slide4.xml" Id="R537e699afeeb43c3" /><Relationship Type="http://schemas.openxmlformats.org/officeDocument/2006/relationships/slide" Target="/ppt/slides/slide5.xml" Id="Rb293b382358542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e193f0d5c48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5aaf41c13e414f" /><Relationship Type="http://schemas.openxmlformats.org/officeDocument/2006/relationships/notesMaster" Target="/ppt/notesMasters/notesMaster1.xml" Id="R5888027351ce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7fae7b21d94311" /><Relationship Type="http://schemas.openxmlformats.org/officeDocument/2006/relationships/notesMaster" Target="/ppt/notesMasters/notesMaster1.xml" Id="R8e553b8fb51440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668f10692e4b65" /><Relationship Type="http://schemas.openxmlformats.org/officeDocument/2006/relationships/notesMaster" Target="/ppt/notesMasters/notesMaster1.xml" Id="R6b653828c13048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dfd16adcf64698" /><Relationship Type="http://schemas.openxmlformats.org/officeDocument/2006/relationships/notesMaster" Target="/ppt/notesMasters/notesMaster1.xml" Id="Rf3612a1781444a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83243355014954" /><Relationship Type="http://schemas.openxmlformats.org/officeDocument/2006/relationships/notesMaster" Target="/ppt/notesMasters/notesMaster1.xml" Id="Rfb4443ac6c2b4c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。系统从公开仓库URL自动完成采集、代码事实、模型抽取、校验、检索建图与可追溯回答。Flask同一真实作业已进入ready/index_graph，并且真实源码职责问答返回6条带证据的claims。换仓库需要重新采集，不能复用Flask事实。来源：课程选题_更新.pdf第1–2页；BuildJob b61942bf06b742e48860d064dffe6df2；evaluation/public_demo源码问答响应。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P1是唯一任务编排者。relore提供采集和检索底座；P3从官方git和静态源码给代码、提交与版本事实；P4调用DeepSeek提取决定、采用状态和原文明示理由。P1校验证据位置及实体端点，P2存显式图并用同一来源池检索，统一回答器生成带证据的全部claims，P5只展示。该闭环已在一个真实Flask任务上进入ready状态，但有限采集与开发问答不替代正式质量实验。来源：docs/public_interfaces.md、docs/code.md、docs/graph_query.md、docs/p4/models.md；同一BuildJob b61942bf06b742e48860d064dffe6df2。架构图为原生可编辑图形。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90秒，必要时切到原文或展示页。本例来自P4已登记的开发主题。原文说，为了适应Werkzeug尚未发布而调整这里的测试。因此本地决定是调整Flask测试，原因要写入rationale并有原文。另一句client.query的新增属于Werkzeug，不能因为写在Flask讨论里，就抽成Flask新增API。早期试跑犯过这个错误，新回归同时保留本地理由和外库归属。这说明引文偏移正确仍不等于语义正确。当前回答器真实返回两条claims，本页完整呈现两项含义。来源：deliveries/P4/2026-10-30/model_validation.json answer_replay；midterm_notes.md；原文https://github.com/pallets/flask/pull/6133 。数据版本p4_dev_6133_20261030，run_id=17c1e34047352702632cae4cdae17fccc7e251606920770aa241ec2452d6bb0c。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建议85秒。这是同一Flask BuildJob在ready/index_graph后的真实自然语言问答，不是固定答案或toy回放。问题询问FlaskClient.session_transaction的职责；回答返回6条claims，分别引用证据32至37，并展示源码原文、Unicode位置、来源编号、冻结数据版本和来源链接。作业覆盖369来源、40完整讨论、24文件快照，抽取133实体、183关系、333条证据和61个Decision；graph_ready、retrieval_ready与actual_llm_extraction均为true。展示结果证明真实闭环与证据可定位，正式质量实验已在第5页给出。来源：demo/replay/flask-public-20261030.json；BuildJob b61942bf06b742e48860d064dffe6df2；evaluation/results/formal_summary.json。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40秒，总计约4分45秒，另留15秒收束。正式抽取使用30个测试线程，模型银标下TP/FP/FN为25/19/1，Precision/Recall/F1为0.568/0.962/0.714，参考中15条明确理由覆盖13条。下游20道测试题上，A组事实覆盖30/50=0.600、证据组召回35/55=0.636、无依据断言率1/39=0.026；B组对应为37/50=0.740、38/55=0.691、2/47=0.043。B相对A的配对覆盖差为0.157，但胜负为B胜5、A胜4、6题持平，95%描述性bootstrap区间[-0.122, 0.457]跨零，因此不宣称显著收益。全池核验成功86/92，确认证据不足数为0，正确弃答率保持N/A。来源：evaluation/results/formal_summary.json；deliveries/P6/2026-10-30/midterm_experiment.md。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8cdc37bc047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63ccb5b5849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79580b6a04c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abc36eeb944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14a835aa04b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233496dfd4f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CE0DC-2236-4431-957E-2737205FB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3B6248-89AB-438A-9B28-AFA72F1839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F4696B-4FE8-4C6F-BA32-48B3E3E4B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C4048A-2435-4367-AF5D-9B657C53B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E656D2-1554-4313-8D5C-5DDAA79EE5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B2771A-E815-491E-BD76-7508A4EA6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92F6A8-413C-481D-872D-FAC917B7EA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9866C0-05B0-4406-97F4-A68999BBB1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2C14E1-973E-428E-B5E0-5C6AD2877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B6B4CB-B6E7-4B2D-84FE-BD7382181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de436c9b04469" /><Relationship Type="http://schemas.openxmlformats.org/officeDocument/2006/relationships/slideLayout" Target="/ppt/slideLayouts/slideLayout1.xml" Id="R211e79c48cb34745" /><Relationship Type="http://schemas.openxmlformats.org/officeDocument/2006/relationships/slideLayout" Target="/ppt/slideLayouts/slideLayout2.xml" Id="R77794dd791aa475a" /><Relationship Type="http://schemas.openxmlformats.org/officeDocument/2006/relationships/slideLayout" Target="/ppt/slideLayouts/slideLayout3.xml" Id="R1637c0cf9bdf4f98" /><Relationship Type="http://schemas.openxmlformats.org/officeDocument/2006/relationships/slideLayout" Target="/ppt/slideLayouts/slideLayout4.xml" Id="Re62c51db58c5495d" /><Relationship Type="http://schemas.openxmlformats.org/officeDocument/2006/relationships/slideLayout" Target="/ppt/slideLayouts/slideLayout5.xml" Id="Rcfd687f33e3a47f5" /><Relationship Type="http://schemas.openxmlformats.org/officeDocument/2006/relationships/slideLayout" Target="/ppt/slideLayouts/slideLayout6.xml" Id="Rad9dc6d09f0748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1e79c48cb34745"/>
    <p:sldLayoutId xmlns:r="http://schemas.openxmlformats.org/officeDocument/2006/relationships" id="2147483650" r:id="R77794dd791aa475a"/>
    <p:sldLayoutId xmlns:r="http://schemas.openxmlformats.org/officeDocument/2006/relationships" id="2147483651" r:id="R1637c0cf9bdf4f98"/>
    <p:sldLayoutId xmlns:r="http://schemas.openxmlformats.org/officeDocument/2006/relationships" id="2147483652" r:id="Re62c51db58c5495d"/>
    <p:sldLayoutId xmlns:r="http://schemas.openxmlformats.org/officeDocument/2006/relationships" id="2147483653" r:id="Rcfd687f33e3a47f5"/>
    <p:sldLayoutId xmlns:r="http://schemas.openxmlformats.org/officeDocument/2006/relationships" id="2147483654" r:id="Rad9dc6d09f0748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7ec2ff4eb4c49" /><Relationship Type="http://schemas.openxmlformats.org/officeDocument/2006/relationships/notesSlide" Target="/ppt/notesSlides/notesSlide1.xml" Id="R4ca2b1033ebf49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a2849966a485e" /><Relationship Type="http://schemas.openxmlformats.org/officeDocument/2006/relationships/notesSlide" Target="/ppt/notesSlides/notesSlide2.xml" Id="Rce5ad28b597044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15f7ea3be4276" /><Relationship Type="http://schemas.openxmlformats.org/officeDocument/2006/relationships/notesSlide" Target="/ppt/notesSlides/notesSlide3.xml" Id="Rf12d7f1d124b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2454565214ac6" /><Relationship Type="http://schemas.openxmlformats.org/officeDocument/2006/relationships/image" Target="/ppt/media/image.png" Id="Rf6ab2169912a43d4" /><Relationship Type="http://schemas.openxmlformats.org/officeDocument/2006/relationships/notesSlide" Target="/ppt/notesSlides/notesSlide4.xml" Id="Rd83f8ed5ad694f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29b36aae44267" /><Relationship Type="http://schemas.openxmlformats.org/officeDocument/2006/relationships/notesSlide" Target="/ppt/notesSlides/notesSlide5.xml" Id="R3c2a6bc338864d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04EA3-65B1-4F15-B70D-CCE4A1B7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开源项目历史知识图谱</a:t>
            </a:r>
          </a:p>
          <a:p xmlns:a="http://schemas.openxmlformats.org/drawingml/2006/main">
            <a: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与可追溯问答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07CFA-97F5-43AF-BEF1-D1712F9F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基于 relore · 以 Flask 为主要实验对象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DA55B-2946-4A85-90A4-49209C11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一段代码为什么这样改？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把讨论理由、PR、提交和文件联系起来，回答时回到原文。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68D95-60A1-4CCB-BFB0-EBD9D2D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知识图谱课程 · 2026年11月11日期中汇报</a:t>
            </a:r>
          </a:p>
          <a:p xmlns:a="http://schemas.openxmlformats.org/drawingml/2006/main">
            <a: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真实URL闭环已就绪 · 正式实验结果已发布</a:t>
            </a:r>
          </a:p>
        </p:txBody>
      </p:sp>
    </p:spTree>
    <p:extLst>
      <p:ext uri="{BB962C8B-B14F-4D97-AF65-F5344CB8AC3E}">
        <p14:creationId xmlns:p14="http://schemas.microsoft.com/office/powerpoint/2010/main" val="1816274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888DA-D106-424C-B7D5-2CCA34D4FB89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543300" y="4572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0D034-A958-452E-9D81-5308DFEE20C3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24750" y="4572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53B77-E82E-4344-BC3D-360AE5BD530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77450" y="3009900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6FEED-D75E-44C2-B7E7-2B4C3FD0421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4765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7661F-60FE-4A9A-9782-7823FD11A88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43300" y="24765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797A9-4D47-4947-9DAD-83F4EF9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自动构建与证据约束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4FE62-1959-4B06-8EF6-340F80B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2DAF2-D84B-412C-8307-269D7672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URL与来源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P1 · relore采集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09EE1-E398-482F-87BF-D62D91DB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代码与版本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P3 · git / 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A1C14-3779-4D29-AAB0-FB4F6CD8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决定与理由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P4 · DeepSeek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0B8DC-B5FF-4ECC-8AA9-8ECB177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校验与冻结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P1 · 原文与关系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6AE52-5B21-4D5E-99B1-745641F3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同源检索与图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P2 · Postgres / Neo4j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08F9E-87AD-4EFE-B4CC-ADD2F34A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问答与原文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P4回答器 → P5页面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70F32-E360-491C-8AC3-1A252025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完整Flask URL闭环已就绪：图、冻结检索与真实模型抽取均可查询。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8EAA8-C36E-42D2-A727-A831808A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同一作业覆盖369来源、40完整讨论、24文件快照、133实体、183关系及333条证据。</a:t>
            </a:r>
          </a:p>
        </p:txBody>
      </p:sp>
    </p:spTree>
    <p:extLst>
      <p:ext uri="{BB962C8B-B14F-4D97-AF65-F5344CB8AC3E}">
        <p14:creationId xmlns:p14="http://schemas.microsoft.com/office/powerpoint/2010/main" val="2069382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ADC8E-DCBA-4E53-A351-C2225F63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开发回归例：Flask PR #6133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7B92A-570C-4B21-BCDD-012F9EC7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2D41F-7497-4300-AF0E-01D5620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问题：为什么调整测试？client.query 属于哪个项目？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131D9-C1AD-424F-BF30-EFA06DA4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① 本地决定：调整 Flask 测试</a:t>
            </a:r>
          </a:p>
          <a:p xmlns:a="http://schemas.openxmlformats.org/drawingml/2006/main">
            <a: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    明示理由：Werkzeug 尚未发布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E24FE-B4FD-48DE-AD91-63864811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“Adjusted the test here to account for Werkzeug not being released yet.”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1CA13-77B0-4C68-A387-DC1309CB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② 归属区分：client.query 新增于 Werkzeug PR #3219</a:t>
            </a:r>
          </a:p>
          <a:p xmlns:a="http://schemas.openxmlformats.org/drawingml/2006/main">
            <a: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    保存外库候选，不生成 Flask 的新增决定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7CD0E-A957-43BB-9D7B-A07EC0C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原文：pallets/flask/pull/6133 · davidism · [282, 352)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28CB-5B32-45CB-9A70-9B4A95D1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开发回归单列，不计入正式测试成绩；30个测试线程的实验结果见第5页。</a:t>
            </a:r>
          </a:p>
        </p:txBody>
      </p:sp>
    </p:spTree>
    <p:extLst>
      <p:ext uri="{BB962C8B-B14F-4D97-AF65-F5344CB8AC3E}">
        <p14:creationId xmlns:p14="http://schemas.microsoft.com/office/powerpoint/2010/main" val="1764467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F6612-63A0-4154-AA26-9BA2E270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真实 URL 闭环与可追溯回答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DD0BD-518A-460C-B806-54C5556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4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B3880-5A87-45E4-8A78-523691F4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ready/index_graph · 369来源 · 40讨论 · 24快照 · 133实体 · 183关系 · 333证据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2278E-20FE-4FB0-A7F1-B638DA2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真实问题返回6条claims；每条可定位到冻结源码区间、来源编号和数据版本。正式质量结果见第5页。</a:t>
            </a:r>
          </a:p>
        </p:txBody>
      </p:sp>
      <p:pic>
        <p:nvPicPr>
          <p:cNvPr id="3" name="flask-real-answer">
            <a:extLst xmlns:a="http://schemas.openxmlformats.org/drawingml/2006/main">
              <a:ext uri="{FF2B5EF4-FFF2-40B4-BE49-F238E27FC236}">
                <a16:creationId xmlns:a16="http://schemas.microsoft.com/office/drawing/2014/main" id="{95FCAAD6-08C0-4AAB-ABDE-6E87B568C8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b2169912a43d4"/>
          <a:stretch xmlns:a="http://schemas.openxmlformats.org/drawingml/2006/main"/>
        </p:blipFill>
        <p:spPr>
          <a:xfrm xmlns:a="http://schemas.openxmlformats.org/drawingml/2006/main">
            <a:off x="689610" y="1352550"/>
            <a:ext cx="10812780" cy="450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05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8D7B3-6F49-4B14-97B1-F0AC474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正式实验结果与限制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CB46D-1A02-4D66-AE64-F26DBD7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3128D-1DAF-4ADC-B1AD-99300AE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知识抽取（30个测试线程）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594B1-3CE6-40E2-8065-A6BCC60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76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TP / FP / FN = 25 / 19 / 1，Precision / Recall / F1 = 0.568 / 0.962 / 0.714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参考理由覆盖 = 13 / 15 = 0.867，30 / 30判分完成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DF881-00C2-493B-84C6-542A4A4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下游问答（20道测试题）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27805-160D-403B-AF05-5D40E0CA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A组：事实覆盖0.600，证据组召回0.636，无依据断言率0.026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180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B组：事实覆盖0.740，证据组召回0.691，无依据断言率0.043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B4A92-6AC7-479A-BB6F-8C19FED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B-A覆盖差0.157，B胜5、A胜4、平6。95%bootstrap区间[-0.122, 0.457]，未显示显著增益。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53024-63B3-4C15-996A-9FDEC6A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全池核验86/92，正确弃答率保持N/A。下一步：第二小库与Windows/macOS实测。</a:t>
            </a:r>
          </a:p>
        </p:txBody>
      </p:sp>
    </p:spTree>
    <p:extLst>
      <p:ext uri="{BB962C8B-B14F-4D97-AF65-F5344CB8AC3E}">
        <p14:creationId xmlns:p14="http://schemas.microsoft.com/office/powerpoint/2010/main" val="1337168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2026-10-30T06:42:12.0600000Z</dcterms:created>
  <dcterms:modified xsi:type="dcterms:W3CDTF">2026-10-30T06:42:12.0600000Z</dcterms:modified>
</coreProperties>
</file>