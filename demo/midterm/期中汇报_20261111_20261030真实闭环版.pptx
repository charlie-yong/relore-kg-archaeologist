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71a32ed434bc2" /><Relationship Type="http://schemas.openxmlformats.org/officeDocument/2006/relationships/extended-properties" Target="/docProps/app.xml" Id="R336461a65f0d44bd" /><Relationship Type="http://schemas.openxmlformats.org/officeDocument/2006/relationships/officeDocument" Target="/ppt/presentation.xml" Id="R692fc0b5e3a345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8ea96a2274b09"/>
  </p:sldMasterIdLst>
  <p:notesMasterIdLst>
    <p:notesMasterId xmlns:r="http://schemas.openxmlformats.org/officeDocument/2006/relationships" r:id="R3468795ca8734089"/>
  </p:notesMasterIdLst>
  <p:sldIdLst>
    <p:sldId xmlns:r="http://schemas.openxmlformats.org/officeDocument/2006/relationships" id="256" r:id="R0b143cf9d11541a3"/>
    <p:sldId xmlns:r="http://schemas.openxmlformats.org/officeDocument/2006/relationships" id="257" r:id="R73f874d69a07414e"/>
    <p:sldId xmlns:r="http://schemas.openxmlformats.org/officeDocument/2006/relationships" id="258" r:id="Rc3bce3f7712e4e36"/>
    <p:sldId xmlns:r="http://schemas.openxmlformats.org/officeDocument/2006/relationships" id="259" r:id="Rbfda2032bdcd44c8"/>
    <p:sldId xmlns:r="http://schemas.openxmlformats.org/officeDocument/2006/relationships" id="260" r:id="R7977ab3d79074c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a1fa45772422d" /><Relationship Type="http://schemas.openxmlformats.org/officeDocument/2006/relationships/slideMaster" Target="/ppt/slideMasters/slideMaster1.xml" Id="R2908ea96a2274b09" /><Relationship Type="http://schemas.openxmlformats.org/officeDocument/2006/relationships/notesMaster" Target="/ppt/notesMasters/notesMaster1.xml" Id="R3468795ca8734089" /><Relationship Type="http://schemas.openxmlformats.org/officeDocument/2006/relationships/presProps" Target="/ppt/presProps.xml" Id="Rbd0e387d3ad84869" /><Relationship Type="http://schemas.openxmlformats.org/officeDocument/2006/relationships/tableStyles" Target="/ppt/tableStyles.xml" Id="R65f2b25d56b445e7" /><Relationship Type="http://schemas.openxmlformats.org/officeDocument/2006/relationships/slide" Target="/ppt/slides/slide1.xml" Id="R0b143cf9d11541a3" /><Relationship Type="http://schemas.openxmlformats.org/officeDocument/2006/relationships/slide" Target="/ppt/slides/slide2.xml" Id="R73f874d69a07414e" /><Relationship Type="http://schemas.openxmlformats.org/officeDocument/2006/relationships/slide" Target="/ppt/slides/slide3.xml" Id="Rc3bce3f7712e4e36" /><Relationship Type="http://schemas.openxmlformats.org/officeDocument/2006/relationships/slide" Target="/ppt/slides/slide4.xml" Id="Rbfda2032bdcd44c8" /><Relationship Type="http://schemas.openxmlformats.org/officeDocument/2006/relationships/slide" Target="/ppt/slides/slide5.xml" Id="R7977ab3d7907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a1e5684d34b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4455eeec244fe" /><Relationship Type="http://schemas.openxmlformats.org/officeDocument/2006/relationships/notesMaster" Target="/ppt/notesMasters/notesMaster1.xml" Id="R62842c158846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aec834acac4d9b" /><Relationship Type="http://schemas.openxmlformats.org/officeDocument/2006/relationships/notesMaster" Target="/ppt/notesMasters/notesMaster1.xml" Id="Rae6e386858764b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0f0d40176846ef" /><Relationship Type="http://schemas.openxmlformats.org/officeDocument/2006/relationships/notesMaster" Target="/ppt/notesMasters/notesMaster1.xml" Id="R71d7d86bdb71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545925f2c54c44" /><Relationship Type="http://schemas.openxmlformats.org/officeDocument/2006/relationships/notesMaster" Target="/ppt/notesMasters/notesMaster1.xml" Id="R21e95e98a94745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133a789424765" /><Relationship Type="http://schemas.openxmlformats.org/officeDocument/2006/relationships/notesMaster" Target="/ppt/notesMasters/notesMaster1.xml" Id="R597b468e2b48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35秒。系统从公开仓库URL自动完成采集、代码事实、模型抽取、校验、检索建图与可追溯回答。Flask同一真实作业已进入ready/index_graph，并且真实源码职责问答返回6条带证据的claims。换仓库需要重新采集，不能复用Flask事实。来源：课程选题_更新.pdf第1–2页；BuildJob b61942bf06b742e48860d064dffe6df2；evaluation/public_demo源码问答响应。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55秒。P1是唯一任务编排者。relore提供采集和检索底座；P3从官方git和静态源码给代码、提交与版本事实；P4调用DeepSeek提取决定、采用状态和原文明示理由。P1校验证据位置及实体端点，P2存显式图并用同一来源池检索，统一回答器生成带证据的全部claims，P5只展示。该闭环已在一个真实Flask任务上进入ready状态，但有限采集与开发问答不替代正式质量实验。来源：docs/public_interfaces.md、docs/code.md、docs/graph_query.md、docs/p4/models.md；同一BuildJob b61942bf06b742e48860d064dffe6df2。架构图为原生可编辑图形。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90秒，必要时切到原文或展示页。本例来自P4已登记的开发主题。原文说，为了适应Werkzeug尚未发布而调整这里的测试。因此本地决定是调整Flask测试，原因要写入rationale并有原文。另一句client.query的新增属于Werkzeug，不能因为写在Flask讨论里，就抽成Flask新增API。早期试跑犯过这个错误，新回归同时保留本地理由和外库归属。这说明引文偏移正确仍不等于语义正确。当前回答器真实返回两条claims，本页完整呈现两项含义。来源：deliveries/P4/2026-10-30/model_validation.json answer_replay；midterm_notes.md；原文https://github.com/pallets/flask/pull/6133 。数据版本p4_dev_6133_20261030，run_id=17c1e34047352702632cae4cdae17fccc7e251606920770aa241ec2452d6bb0c。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建议85秒。这是同一Flask BuildJob在ready/index_graph后的真实自然语言问答，不是固定答案或toy回放。问题询问FlaskClient.session_transaction的职责；回答返回6条claims，分别引用证据32至37，并展示源码原文、Unicode位置、来源编号、冻结数据版本和来源链接。作业覆盖369来源、40完整讨论、24文件快照，抽取133实体、183关系、333条证据和61个Decision；graph_ready、retrieval_ready与actual_llm_extraction均为true。展示结果证明真实闭环与证据可定位，不证明正式测试准确率。来源：demo/replay/flask-public-20261030.json；BuildJob b61942bf06b742e48860d064dffe6df2；docs/p5/screenshots/flask-architecture-claims-20261030.png与flask-architecture-source-20261030.png。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40秒，总计约4分45秒，另留15秒收束。我们不预设知识图谱一定更好。抽取实验由完整来源独立生成模型参考，再统计TP、FP、FN和理由漏填；正式问题与参考隔离，不拿测试答案修改方法。下游A/B共享来源和回答器，只改变图扩展，报告事实覆盖、证据召回、无依据断言、弃答、时间和费用。现有真实URL问答与冻结重放已完成，但正式F1、A/B增益和正确弃答率仍以P6汇总为准。下一步完成正式实验、第二小库与Windows/macOS最小验证。来源：统一执行契约C8–C9；总规划第6节；课程选题_更新.pdf第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0736546634f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2805ebc084e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984cd16bb4f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174ed42fb46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be182ae5347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de89b4e5844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CE0DC-2236-4431-957E-2737205FB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B6248-89AB-438A-9B28-AFA72F1839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F4696B-4FE8-4C6F-BA32-48B3E3E4B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C4048A-2435-4367-AF5D-9B657C53B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E656D2-1554-4313-8D5C-5DDAA79EE5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B2771A-E815-491E-BD76-7508A4EA6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92F6A8-413C-481D-872D-FAC917B7E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9866C0-05B0-4406-97F4-A68999BBB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2C14E1-973E-428E-B5E0-5C6AD2877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B6B4CB-B6E7-4B2D-84FE-BD7382181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f1171bf2b4c9d" /><Relationship Type="http://schemas.openxmlformats.org/officeDocument/2006/relationships/slideLayout" Target="/ppt/slideLayouts/slideLayout1.xml" Id="Ra8571979d21142ae" /><Relationship Type="http://schemas.openxmlformats.org/officeDocument/2006/relationships/slideLayout" Target="/ppt/slideLayouts/slideLayout2.xml" Id="R5fa232efeb4d43d3" /><Relationship Type="http://schemas.openxmlformats.org/officeDocument/2006/relationships/slideLayout" Target="/ppt/slideLayouts/slideLayout3.xml" Id="R766537db7b3f4699" /><Relationship Type="http://schemas.openxmlformats.org/officeDocument/2006/relationships/slideLayout" Target="/ppt/slideLayouts/slideLayout4.xml" Id="Rf21681d715fd4c78" /><Relationship Type="http://schemas.openxmlformats.org/officeDocument/2006/relationships/slideLayout" Target="/ppt/slideLayouts/slideLayout5.xml" Id="R788dce9e37644c27" /><Relationship Type="http://schemas.openxmlformats.org/officeDocument/2006/relationships/slideLayout" Target="/ppt/slideLayouts/slideLayout6.xml" Id="R281ce6c29d8b4a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71979d21142ae"/>
    <p:sldLayoutId xmlns:r="http://schemas.openxmlformats.org/officeDocument/2006/relationships" id="2147483650" r:id="R5fa232efeb4d43d3"/>
    <p:sldLayoutId xmlns:r="http://schemas.openxmlformats.org/officeDocument/2006/relationships" id="2147483651" r:id="R766537db7b3f4699"/>
    <p:sldLayoutId xmlns:r="http://schemas.openxmlformats.org/officeDocument/2006/relationships" id="2147483652" r:id="Rf21681d715fd4c78"/>
    <p:sldLayoutId xmlns:r="http://schemas.openxmlformats.org/officeDocument/2006/relationships" id="2147483653" r:id="R788dce9e37644c27"/>
    <p:sldLayoutId xmlns:r="http://schemas.openxmlformats.org/officeDocument/2006/relationships" id="2147483654" r:id="R281ce6c29d8b4a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c528260b241ee" /><Relationship Type="http://schemas.openxmlformats.org/officeDocument/2006/relationships/notesSlide" Target="/ppt/notesSlides/notesSlide1.xml" Id="Rb4b13995733e41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f3049604f4fae" /><Relationship Type="http://schemas.openxmlformats.org/officeDocument/2006/relationships/notesSlide" Target="/ppt/notesSlides/notesSlide2.xml" Id="R5d29446c77ac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3d06e3c2648ab" /><Relationship Type="http://schemas.openxmlformats.org/officeDocument/2006/relationships/notesSlide" Target="/ppt/notesSlides/notesSlide3.xml" Id="R85264f9bb5bd41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efd438dff4bb1" /><Relationship Type="http://schemas.openxmlformats.org/officeDocument/2006/relationships/image" Target="/ppt/media/image.png" Id="Rf9849932a4654d30" /><Relationship Type="http://schemas.openxmlformats.org/officeDocument/2006/relationships/notesSlide" Target="/ppt/notesSlides/notesSlide4.xml" Id="R636440b5886049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a827fa64c494d" /><Relationship Type="http://schemas.openxmlformats.org/officeDocument/2006/relationships/notesSlide" Target="/ppt/notesSlides/notesSlide5.xml" Id="Rd0993a3f0c7c45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04EA3-65B1-4F15-B70D-CCE4A1B7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开源项目历史知识图谱</a:t>
            </a:r>
          </a:p>
          <a:p xmlns:a="http://schemas.openxmlformats.org/drawingml/2006/main">
            <a:pPr>
              <a:buNone/>
              <a:def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44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与可追溯问答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07CFA-97F5-43AF-BEF1-D1712F9F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基于 relore · 以 Flask 为主要实验对象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DA55B-2946-4A85-90A4-49209C11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一段代码为什么这样改？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把讨论理由、PR、提交和文件联系起来，回答时回到原文。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68D95-60A1-4CCB-BFB0-EBD9D2D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知识图谱课程 · 2026年11月11日期中汇报</a:t>
            </a:r>
          </a:p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当前闭环已就绪 · 真实源码问答通过</a:t>
            </a:r>
          </a:p>
        </p:txBody>
      </p:sp>
    </p:spTree>
    <p:extLst>
      <p:ext uri="{BB962C8B-B14F-4D97-AF65-F5344CB8AC3E}">
        <p14:creationId xmlns:p14="http://schemas.microsoft.com/office/powerpoint/2010/main" val="1816274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44207-466D-4DBF-94AA-C9C1D18BFDD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543300" y="4572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C0BD4-93CD-4F40-8E41-7C9C31346E7A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24750" y="45720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D22B0-B6A5-45A4-B3FC-39E0E3E2C36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77450" y="300990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E6019-3616-4734-89BD-0DE5E071188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4765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1E2F8-CD67-4A15-85F3-66217AE7C4F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43300" y="247650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797A9-4D47-4947-9DAD-83F4EF9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自动构建与证据约束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4FE62-1959-4B06-8EF6-340F80B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2DAF2-D84B-412C-8307-269D7672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URL与来源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P1 · relore采集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09EE1-E398-482F-87BF-D62D91DB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代码与版本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P3 · git / 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A1C14-3779-4D29-AAB0-FB4F6CD8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决定与理由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P4 · DeepSeek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0B8DC-B5FF-4ECC-8AA9-8ECB177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校验与冻结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P1 · 原文与关系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6AE52-5B21-4D5E-99B1-745641F3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同源检索与图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P2 · Postgres / Neo4j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08F9E-87AD-4EFE-B4CC-ADD2F34A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7"/>
          </a:solidFill>
          <a:ln xmlns:a="http://schemas.openxmlformats.org/drawingml/2006/main" w="14288">
            <a:solidFill>
              <a:srgbClr val="087F8C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问答与原文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025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P4回答器 → P5页面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70F32-E360-491C-8AC3-1A252025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00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完整Flask URL闭环已就绪：图、冻结检索与真实模型抽取均可查询。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8EAA8-C36E-42D2-A727-A831808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同一作业覆盖369来源、40完整讨论、24文件快照、133实体、183关系及333条证据。</a:t>
            </a:r>
          </a:p>
        </p:txBody>
      </p:sp>
    </p:spTree>
    <p:extLst>
      <p:ext uri="{BB962C8B-B14F-4D97-AF65-F5344CB8AC3E}">
        <p14:creationId xmlns:p14="http://schemas.microsoft.com/office/powerpoint/2010/main" val="206938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ADC8E-DCBA-4E53-A351-C2225F63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开发回归例：Flask PR #6133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7B92A-570C-4B21-BCDD-012F9EC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2D41F-7497-4300-AF0E-01D5620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250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问题：为什么调整测试？client.query 属于哪个项目？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131D9-C1AD-424F-BF30-EFA06DA4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① 本地决定：调整 Flask 测试</a:t>
            </a:r>
          </a:p>
          <a:p xmlns:a="http://schemas.openxmlformats.org/drawingml/2006/main">
            <a:pPr>
              <a:buNone/>
              <a:def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    明示理由：Werkzeug 尚未发布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E24FE-B4FD-48DE-AD91-6386481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“Adjusted the test here to account for Werkzeug not being released yet.”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1CA13-77B0-4C68-A387-DC1309C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② 归属区分：client.query 新增于 Werkzeug PR #3219</a:t>
            </a:r>
          </a:p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    保存外库候选，不生成 Flask 的新增决定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CD0E-A957-43BB-9D7B-A07EC0C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原文：pallets/flask/pull/6133 · davidism · [282, 352)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28CB-5B32-45CB-9A70-9B4A95D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真实模型开发回归；不计正式测试成绩，也不替代仅输入URL的自动验收。</a:t>
            </a:r>
          </a:p>
        </p:txBody>
      </p:sp>
    </p:spTree>
    <p:extLst>
      <p:ext uri="{BB962C8B-B14F-4D97-AF65-F5344CB8AC3E}">
        <p14:creationId xmlns:p14="http://schemas.microsoft.com/office/powerpoint/2010/main" val="1764467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F6612-63A0-4154-AA26-9BA2E27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真实 URL 闭环与可追溯回答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D0BD-518A-460C-B806-54C5556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4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B3880-5A87-45E4-8A78-523691F4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202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ready/index_graph · 369来源 · 40讨论 · 24快照 · 133实体 · 183关系 · 333证据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278E-20FE-4FB0-A7F1-B638DA2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 algn="l">
              <a:buNone/>
              <a:defRPr sz="17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真实问题返回6条claims；每条可定位到冻结源码区间、来源编号和数据版本。开发问答不替代P6正式质量实验。</a:t>
            </a:r>
          </a:p>
        </p:txBody>
      </p:sp>
      <p:pic>
        <p:nvPicPr>
          <p:cNvPr id="3" name="flask-real-answer">
            <a:extLst xmlns:a="http://schemas.openxmlformats.org/drawingml/2006/main">
              <a:ext uri="{FF2B5EF4-FFF2-40B4-BE49-F238E27FC236}">
                <a16:creationId xmlns:a16="http://schemas.microsoft.com/office/drawing/2014/main" id="{6B4317FD-5BA5-4341-AAE1-6FED0B32A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49932a4654d30"/>
          <a:stretch xmlns:a="http://schemas.openxmlformats.org/drawingml/2006/main"/>
        </p:blipFill>
        <p:spPr>
          <a:xfrm xmlns:a="http://schemas.openxmlformats.org/drawingml/2006/main">
            <a:off x="689610" y="1352550"/>
            <a:ext cx="10812780" cy="450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05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8D7B3-6F49-4B14-97B1-F0AC474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33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实验设计与下一阶段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CB46D-1A02-4D66-AE64-F26DBD7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91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3128D-1DAF-4ADC-B1AD-99300AE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知识抽取实验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594B1-3CE6-40E2-8065-A6BCC60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76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完整原文 → 独立模型参考与复核 → 一对一匹配</a:t>
            </a:r>
          </a:p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统计决定 Precision / Recall / F1、理由完整性及错误类型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DF881-00C2-493B-84C6-542A4A4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defRPr>
            </a:pPr>
            <a:r>
              <a:rPr sz="2475" b="1">
                <a:solidFill>
                  <a:srgbClr val="087F8C"/>
                </a:solidFill>
                <a:latin typeface="Songti SC"/>
                <a:ea typeface="Songti SC"/>
                <a:cs typeface="Songti SC"/>
              </a:rPr>
              <a:t>下游问答对照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27805-160D-403B-AF05-5D40E0CA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A：relore检索 + 统一回答器</a:t>
            </a:r>
          </a:p>
          <a:p xmlns:a="http://schemas.openxmlformats.org/drawingml/2006/main">
            <a:pPr>
              <a:buNone/>
              <a:def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75" b="0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B：同样的检索种子 + 图谱扩展 + 同一回答器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B4A92-6AC7-479A-BB6F-8C19FED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defRPr>
            </a:pPr>
            <a:r>
              <a:rPr sz="2025" b="0">
                <a:solidFill>
                  <a:srgbClr val="56616D"/>
                </a:solidFill>
                <a:latin typeface="Songti SC"/>
                <a:ea typeface="Songti SC"/>
                <a:cs typeface="Songti SC"/>
              </a:rPr>
              <a:t>固定同来源、同模型、同提示、同上下文预算；报告收益和代价。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53024-63B3-4C15-996A-9FDEC6A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defPPr>
            <a:lvl1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1pPr>
            <a:lvl2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2pPr>
            <a:lvl3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3pPr>
            <a:lvl4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4pPr>
            <a:lvl5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5pPr>
            <a:lvl6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6pPr>
            <a:lvl7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7pPr>
            <a:lvl8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8pPr>
            <a:lvl9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8334A"/>
                </a:solidFill>
                <a:latin typeface="Songti SC"/>
                <a:ea typeface="Songti SC"/>
                <a:cs typeface="Songti SC"/>
              </a:rPr>
              <a:t>当前：真实URL问答与冻结重放已通过 → 正式A/B与完整不足核验 → 第二小库、双平台</a:t>
            </a:r>
          </a:p>
        </p:txBody>
      </p:sp>
    </p:spTree>
    <p:extLst>
      <p:ext uri="{BB962C8B-B14F-4D97-AF65-F5344CB8AC3E}">
        <p14:creationId xmlns:p14="http://schemas.microsoft.com/office/powerpoint/2010/main" val="1337168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2026-10-30T06:30:25.1250000Z</dcterms:created>
  <dcterms:modified xsi:type="dcterms:W3CDTF">2026-10-30T06:30:25.1250000Z</dcterms:modified>
</coreProperties>
</file>