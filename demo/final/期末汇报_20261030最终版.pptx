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slides/charts/chart1.xml" ContentType="application/vnd.openxmlformats-officedocument.drawingml.chart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c07bab897434118" /><Relationship Type="http://schemas.openxmlformats.org/officeDocument/2006/relationships/extended-properties" Target="/docProps/app.xml" Id="Rd028e074edce494a" /><Relationship Type="http://schemas.openxmlformats.org/officeDocument/2006/relationships/officeDocument" Target="/ppt/presentation.xml" Id="R950962e4a72c45d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631a457b6db43fb"/>
  </p:sldMasterIdLst>
  <p:notesMasterIdLst>
    <p:notesMasterId xmlns:r="http://schemas.openxmlformats.org/officeDocument/2006/relationships" r:id="R727c8fa38bdb406e"/>
  </p:notesMasterIdLst>
  <p:sldIdLst>
    <p:sldId xmlns:r="http://schemas.openxmlformats.org/officeDocument/2006/relationships" id="256" r:id="R3a26d902b1094b30"/>
    <p:sldId xmlns:r="http://schemas.openxmlformats.org/officeDocument/2006/relationships" id="257" r:id="R0d07b1d2e2984dbe"/>
    <p:sldId xmlns:r="http://schemas.openxmlformats.org/officeDocument/2006/relationships" id="258" r:id="R78f6f4358c2d4d9c"/>
    <p:sldId xmlns:r="http://schemas.openxmlformats.org/officeDocument/2006/relationships" id="259" r:id="R5cc496e96f7b4923"/>
    <p:sldId xmlns:r="http://schemas.openxmlformats.org/officeDocument/2006/relationships" id="260" r:id="Rca58556330f24be1"/>
    <p:sldId xmlns:r="http://schemas.openxmlformats.org/officeDocument/2006/relationships" id="261" r:id="R416737165ccb4800"/>
    <p:sldId xmlns:r="http://schemas.openxmlformats.org/officeDocument/2006/relationships" id="262" r:id="Rcf8cf3533b9a4e7f"/>
    <p:sldId xmlns:r="http://schemas.openxmlformats.org/officeDocument/2006/relationships" id="263" r:id="R5ec0a3a8a08541a6"/>
    <p:sldId xmlns:r="http://schemas.openxmlformats.org/officeDocument/2006/relationships" id="264" r:id="R9d343112e7d64880"/>
    <p:sldId xmlns:r="http://schemas.openxmlformats.org/officeDocument/2006/relationships" id="265" r:id="Rc799ae6e5f28447e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8544c733fb24c91" /><Relationship Type="http://schemas.openxmlformats.org/officeDocument/2006/relationships/slideMaster" Target="/ppt/slideMasters/slideMaster1.xml" Id="Ra631a457b6db43fb" /><Relationship Type="http://schemas.openxmlformats.org/officeDocument/2006/relationships/notesMaster" Target="/ppt/notesMasters/notesMaster1.xml" Id="R727c8fa38bdb406e" /><Relationship Type="http://schemas.openxmlformats.org/officeDocument/2006/relationships/presProps" Target="/ppt/presProps.xml" Id="Re11b6398d3da40ff" /><Relationship Type="http://schemas.openxmlformats.org/officeDocument/2006/relationships/tableStyles" Target="/ppt/tableStyles.xml" Id="R7ecfcce1ce8d4c78" /><Relationship Type="http://schemas.openxmlformats.org/officeDocument/2006/relationships/slide" Target="/ppt/slides/slide1.xml" Id="R3a26d902b1094b30" /><Relationship Type="http://schemas.openxmlformats.org/officeDocument/2006/relationships/slide" Target="/ppt/slides/slide2.xml" Id="R0d07b1d2e2984dbe" /><Relationship Type="http://schemas.openxmlformats.org/officeDocument/2006/relationships/slide" Target="/ppt/slides/slide3.xml" Id="R78f6f4358c2d4d9c" /><Relationship Type="http://schemas.openxmlformats.org/officeDocument/2006/relationships/slide" Target="/ppt/slides/slide4.xml" Id="R5cc496e96f7b4923" /><Relationship Type="http://schemas.openxmlformats.org/officeDocument/2006/relationships/slide" Target="/ppt/slides/slide5.xml" Id="Rca58556330f24be1" /><Relationship Type="http://schemas.openxmlformats.org/officeDocument/2006/relationships/slide" Target="/ppt/slides/slide6.xml" Id="R416737165ccb4800" /><Relationship Type="http://schemas.openxmlformats.org/officeDocument/2006/relationships/slide" Target="/ppt/slides/slide7.xml" Id="Rcf8cf3533b9a4e7f" /><Relationship Type="http://schemas.openxmlformats.org/officeDocument/2006/relationships/slide" Target="/ppt/slides/slide8.xml" Id="R5ec0a3a8a08541a6" /><Relationship Type="http://schemas.openxmlformats.org/officeDocument/2006/relationships/slide" Target="/ppt/slides/slide9.xml" Id="R9d343112e7d64880" /><Relationship Type="http://schemas.openxmlformats.org/officeDocument/2006/relationships/slide" Target="/ppt/slides/slide10.xml" Id="Rc799ae6e5f28447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a422c26fe1b401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ae3c2d86e424d66" /><Relationship Type="http://schemas.openxmlformats.org/officeDocument/2006/relationships/notesMaster" Target="/ppt/notesMasters/notesMaster1.xml" Id="R2e75d3013560413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6ebd36786354f66" /><Relationship Type="http://schemas.openxmlformats.org/officeDocument/2006/relationships/notesMaster" Target="/ppt/notesMasters/notesMaster1.xml" Id="Rf71b6ec634c34c4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257d7bc123f45a7" /><Relationship Type="http://schemas.openxmlformats.org/officeDocument/2006/relationships/notesMaster" Target="/ppt/notesMasters/notesMaster1.xml" Id="R1472aa4beac9447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6507308538a438f" /><Relationship Type="http://schemas.openxmlformats.org/officeDocument/2006/relationships/notesMaster" Target="/ppt/notesMasters/notesMaster1.xml" Id="Rf8e5ff0d9e1f47a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8dd2b30636e48ea" /><Relationship Type="http://schemas.openxmlformats.org/officeDocument/2006/relationships/notesMaster" Target="/ppt/notesMasters/notesMaster1.xml" Id="Rca7bf21db1e74c1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fdcffeb9dbe4555" /><Relationship Type="http://schemas.openxmlformats.org/officeDocument/2006/relationships/notesMaster" Target="/ppt/notesMasters/notesMaster1.xml" Id="Rb0b606975b074a4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74c1957bd944a9f" /><Relationship Type="http://schemas.openxmlformats.org/officeDocument/2006/relationships/notesMaster" Target="/ppt/notesMasters/notesMaster1.xml" Id="R3a57268d88c0485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deb64f1f3e44c7f" /><Relationship Type="http://schemas.openxmlformats.org/officeDocument/2006/relationships/notesMaster" Target="/ppt/notesMasters/notesMaster1.xml" Id="Rbecc2a441fb8428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40f953f5080946d7" /><Relationship Type="http://schemas.openxmlformats.org/officeDocument/2006/relationships/notesMaster" Target="/ppt/notesMasters/notesMaster1.xml" Id="Rafce480056054bf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621303d17976418d" /><Relationship Type="http://schemas.openxmlformats.org/officeDocument/2006/relationships/notesMaster" Target="/ppt/notesMasters/notesMaster1.xml" Id="R474e0054f3b049b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建议约40秒。开场只讲问题：当前代码能说明做了什么，却常常不能说明为什么这样改。项目输入一个公开 GitHub Python 仓库 URL，程序自动采集有限历史、抽取决定和理由、建立图与检索，再用统一回答器返回带原文的 claims。Flask 是主要实验对象，换仓库需要重新采集，不能复用 Flask 事实。材料来源：evaluation/results/formal_summary.json、reports/technical_report.md、demo/replay/flask-public-20261030.json。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建议约60秒。研究问题分两层。RQ1看知识抽取：不是只生成一段总结，而是输出原子 Decision，包含主体、动作、状态、结论和明示理由，每条都有冻结原文证据。RQ2看图的价值：A组用共同检索，B组在同一检索种子上扩展图路径，两组同来源、同模型、同预算。边界必须说清：有限近期采样、不执行目标仓库代码、不训练基础模型，参考是模型银标而不是人工金标。来源：reports/technical_report.md第1、3、5章；evaluation/results/protocol_freeze.json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建议约80秒。正常用户只输入 URL。P1 负责发现、采集、统一作业和恢复；relore 提供讨论采集与检索底座；P3 静态读取官方 git 和源码；P4 调用 DeepSeek 抽取决定和理由；P1 校验证据与端点，P2 建图并提供 QueryResult；P4 统一回答器生成 claims，P5 只展示。六阶段分别是 discover、collect、code、extract、validate、index_graph。页面刷新只读取同一 job，暂停可 resume，不重新采集已完成阶段。来源：docs/public_interfaces.md、docs/collector.md、docs/code.md、docs/graph_query.md。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建议约100秒。Schema 在早期 Project、Issue、PullRequest、Commit、File、Release 和 Decision 之外，按课程基础功能加入 P3 的 Developer 与 Function。File 是特定提交下的文件快照，同路径不同 SHA 不合并。Evidence 用 source_id、start、end、quote 表示，程序要求冻结文本切片与 quote 完全相等。P3 增量只读重放得到 18 个 Developer、384 个 Function、20 条 Authored、4 条 Merged、384 条 Defines。方向必须说准：Authored 和 Merged 都是 Developer 指向 PullRequest；Defines 是 File 指向 Function。PR 到 Commit 仍沿用 P1 的 MergedAs，P3 不生成 Developer 到 Commit。上述数字是新增契约在新数据版本上的真实冻结只读重放，不是向旧 1.4.1 生产图原地补写。ClaimsToClose 只是文本声明，Closes 需要官方关闭事件；MentionsPR 只说明 Release notes 提及，ReachableIn 才表示 git 可达；Decision 状态也不等于功能已经修复。来源：deliveries/P3/2026-10-30/developer_function_handoff.md；deliveries/P3/2026-10-30/developer_function_validation.json；docs/code.md；reports/technical_report.md第2章；01_统一执行契约.md C5–C6。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建议约70秒。这是同一个真实 Flask URL 作业：369 条冻结来源、40 个完整讨论、24 个文件快照，构建后得到 133 个业务实体、183 条关系和 333 条证据，其中 61 个 Decision 已包含在实体数里，不能重复加。时间范围是 2019-05-10 到 2026-10-27。profile 上限是 40 个讨论单元、24 个文件快照、3 个 Release 和 300 次请求。页面同时显示 584 项覆盖缺口或限制，这些是范围与解析边界，不是 584 个事实错误。来源：demo/replay/flask-public-20261030.json 的 job 对象；evaluation/results/source_only_freeze.json；docs/p5/screenshots/flask-ready-coverage-20261030.png。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建议约100秒。这条固定链是 PR #6096（lkk7→davidism）→ 05e9c6b → src/flask/testing.py → flask.testing._get_werkzeug_version，来自新数据版本的冻结只读重放，不是靠同号或共现拼接。PR #6096 的顶层 user 字段证明 lkk7 到 PullRequest 的 Authored，merged_by 字段证明 davidism 到同一 PullRequest 的 Merged；两条边都由 P3 生成。PR 到 Commit 05e9c6b 的 MergedAs 仍由 P1 提供，P3 只校验下游。Commit 到 src/flask/testing.py 是同快照的 Touches，File 到 flask.testing._get_werkzeug_version 是 AST 产生的 Defines；函数签名证据是 [3179,3214)，函数位于第 100 到 106 行。这条链刻意不生成 Developer 到 Commit，也没有 commit-author 关系；Developer 只来自 PR API 的 user 和 merged_by。FlaskClient 是 ClassDef，不能冒充 Function。该结果的网络请求和模型请求均为 0，不是旧生产图原地补写。来源：deliveries/P3/2026-10-30/developer_function_validation.json；deliveries/P3/2026-10-30/developer_function_handoff.md；docs/code.md。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建议约90秒。真实问题问的是 FlaskClient.session_transaction 的职责。页面返回 6 条 claims，并逐条链接到证据 32 到 37。左边抽取了其中 4 条关键内容：它是上下文管理器，离开 with 后保存会话；通过临时请求上下文和 Cookie 打开会话；null session 直接返回，否则 save_session；最后用 Set-Cookie 更新客户端 Cookie。右边是证据 36 的真实页面，显示冻结源码、Unicode 区间 [5886,6057)、SourceDocument 编号和 dataset 版本。页面不另写摘要，按原顺序展示所有 claims。来源：demo/replay/flask-public-20261030.json；docs/p5/screenshots/flask-architecture-source-20261030.png；docs/p5/README.md。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建议约80秒。正式抽取在 30 个完整测试讨论单元上得到 TP 25、FP 19、FN 1，Precision 0.568、Recall 0.962、F1 0.714。参考中 15 条明确理由有 13 条被完整保留，覆盖 0.867。开发集 F1 0.690，理由 9/11。高召回说明大部分银标决定被找到，低精度说明还有大量预测与银标不一致。FP 不能全部解释成人工确认的事实错误，因为银标可能有遗漏；但差距真实存在，必须和结果一起报告。来源：evaluation/results/formal_summary.json 的 extraction 字段；evaluation/results/extraction_summary.json。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建议约90秒。20 道测试题上，A 组事实覆盖 0.600、证据组召回 0.636、无依据断言率 0.026；B 组分别是 0.740、0.691 和 0.043。B-A 配对事实覆盖差是 0.157，但配对胜负为 B 胜 5、A 胜 4、平 6，固定种子 95% 描述性 bootstrap 区间是 [-0.122,0.457]，跨零。因此不能宣称图扩展有显著收益。正确弃答率必须明确为 N/A：以下是 2026-10-30 的 P6 收尾前快照，全池 92 个位置只有 86 个成功，已确认证据不足为 0，而且没有题目完成两遍完整确认。48 个答案中还有 1 个生产失败，不能删掉。第 9 页下方是唯一 P6 状态区，若 P6 收尾后数字变化，只替换该文本框并保留日期与口径；86/92 不是永久终稿。局限包括单一项目、模型银标、小样本、图扩展增加无依据断言，以及全池和第二小库仍需以 P6 收尾状态为准。来源：evaluation/results/formal_summary.json 的 qa.test 与 whole_pool 字段；deliveries/P6/2026-10-30/experiment_chapter_draft.md。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建议约40秒。最后一页把可提交内容和未完成边界分开。系统已经完成真实 Flask URL 到采集、抽取、建图、检索和带出处问答的闭环；冻结包可以复现，在线重跑需要使用者自己的 API 和预算。结论是系统可运行、可追溯、可复现，但图谱收益没有在本次小样本中成立，正确弃答率仍是 N/A。六角色分工见表，姓名、学号和正式互评没有提供，全部保留待本人补充，不虚构。P4 前期独立调研、方案、架构、协作框架、试跑和采集器移植保留原归属。来源：reports/technical_report.md第8–9章；deliveries/P1/2026-10-30/handoff.md；deliveries/P4/2026-10-27/handoff.md；coordination/STATUS_P5.md。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6404f866c92418c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28c7f16be7c40fb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b806a40c4544c2e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031948d67a54f69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46bcae27f7a42eb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a44eba5eca342f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C4379305-FEEF-48FF-978B-3BB49044D6E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CEFD3499-320A-4D65-90FC-36BCE1531E6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9DE4534C-FDB6-47FA-AECE-814B74BF17C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8796DA2E-51FD-4A10-AA29-9E6D362577A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C2879448-9515-497B-8C30-C408CC80912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86E32930-360F-458F-BE88-17CC4A06D87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2701E0A1-6FF4-405E-ADF9-EFDF699B5B8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178BACC6-8EF5-4765-9C82-304288D8E724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9376643-B024-44BB-A9C6-F8127143E4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BB7F850C-7474-422B-AD25-F0EAA9D3148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456cd38973f4278" /><Relationship Type="http://schemas.openxmlformats.org/officeDocument/2006/relationships/slideLayout" Target="/ppt/slideLayouts/slideLayout1.xml" Id="R39180b3391e04ee8" /><Relationship Type="http://schemas.openxmlformats.org/officeDocument/2006/relationships/slideLayout" Target="/ppt/slideLayouts/slideLayout2.xml" Id="R2d3a5d76e5c846f6" /><Relationship Type="http://schemas.openxmlformats.org/officeDocument/2006/relationships/slideLayout" Target="/ppt/slideLayouts/slideLayout3.xml" Id="R983457bf8c81489c" /><Relationship Type="http://schemas.openxmlformats.org/officeDocument/2006/relationships/slideLayout" Target="/ppt/slideLayouts/slideLayout4.xml" Id="R3cc03a2e916b4601" /><Relationship Type="http://schemas.openxmlformats.org/officeDocument/2006/relationships/slideLayout" Target="/ppt/slideLayouts/slideLayout5.xml" Id="Re6a8ba0aee844a0f" /><Relationship Type="http://schemas.openxmlformats.org/officeDocument/2006/relationships/slideLayout" Target="/ppt/slideLayouts/slideLayout6.xml" Id="R1c4d6031b269460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9180b3391e04ee8"/>
    <p:sldLayoutId xmlns:r="http://schemas.openxmlformats.org/officeDocument/2006/relationships" id="2147483650" r:id="R2d3a5d76e5c846f6"/>
    <p:sldLayoutId xmlns:r="http://schemas.openxmlformats.org/officeDocument/2006/relationships" id="2147483651" r:id="R983457bf8c81489c"/>
    <p:sldLayoutId xmlns:r="http://schemas.openxmlformats.org/officeDocument/2006/relationships" id="2147483652" r:id="R3cc03a2e916b4601"/>
    <p:sldLayoutId xmlns:r="http://schemas.openxmlformats.org/officeDocument/2006/relationships" id="2147483653" r:id="Re6a8ba0aee844a0f"/>
    <p:sldLayoutId xmlns:r="http://schemas.openxmlformats.org/officeDocument/2006/relationships" id="2147483654" r:id="R1c4d6031b269460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f6395ee093d4fc9" /><Relationship Type="http://schemas.openxmlformats.org/officeDocument/2006/relationships/notesSlide" Target="/ppt/notesSlides/notesSlide1.xml" Id="Rf7c63660714e44e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3d9e0eb6a42434f" /><Relationship Type="http://schemas.openxmlformats.org/officeDocument/2006/relationships/notesSlide" Target="/ppt/notesSlides/notesSlide2.xml" Id="R18e6a21c327a4f0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eff83a14bc84901" /><Relationship Type="http://schemas.openxmlformats.org/officeDocument/2006/relationships/notesSlide" Target="/ppt/notesSlides/notesSlide3.xml" Id="R54d0c51d9ea44c3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cac4bda80b44869" /><Relationship Type="http://schemas.openxmlformats.org/officeDocument/2006/relationships/notesSlide" Target="/ppt/notesSlides/notesSlide4.xml" Id="Raf8499c39cee4c5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7f2531af4df4e50" /><Relationship Type="http://schemas.openxmlformats.org/officeDocument/2006/relationships/image" Target="/ppt/media/image.jpeg" Id="Refcf72943c104202" /><Relationship Type="http://schemas.openxmlformats.org/officeDocument/2006/relationships/notesSlide" Target="/ppt/notesSlides/notesSlide5.xml" Id="Rf50308b922b5457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3efdc9cc4314d69" /><Relationship Type="http://schemas.openxmlformats.org/officeDocument/2006/relationships/notesSlide" Target="/ppt/notesSlides/notesSlide6.xml" Id="R20136a099da44b6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630e79735ba4b17" /><Relationship Type="http://schemas.openxmlformats.org/officeDocument/2006/relationships/image" Target="/ppt/media/image.png" Id="R719a23101fe34e7e" /><Relationship Type="http://schemas.openxmlformats.org/officeDocument/2006/relationships/notesSlide" Target="/ppt/notesSlides/notesSlide7.xml" Id="R01c96778394b409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09947bdfc184a8a" /><Relationship Type="http://schemas.openxmlformats.org/officeDocument/2006/relationships/chart" Target="/ppt/slides/charts/chart1.xml" Id="R437d544841c445e6" /><Relationship Type="http://schemas.openxmlformats.org/officeDocument/2006/relationships/notesSlide" Target="/ppt/notesSlides/notesSlide8.xml" Id="R83bb44890c4343e5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c1267ed1d904d57" /><Relationship Type="http://schemas.openxmlformats.org/officeDocument/2006/relationships/notesSlide" Target="/ppt/notesSlides/notesSlide9.xml" Id="Ra9f26fbd335e48a2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dae8904f4ff4313" /><Relationship Type="http://schemas.openxmlformats.org/officeDocument/2006/relationships/notesSlide" Target="/ppt/notesSlides/notesSlide10.xml" Id="R392a08ee432b48ce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开发 10 单元</c:v>
          </c:tx>
          <c:spPr>
            <a:solidFill xmlns:a="http://schemas.openxmlformats.org/drawingml/2006/main">
              <a:srgbClr val="2F6E69"/>
            </a:solidFill>
          </c:spPr>
          <c:invertIfNegative val="0"/>
          <c:cat>
            <c:strRef>
              <c:f>'Chart Data'!$A$2:$A$4</c:f>
              <c:strCache>
                <c:ptCount val="3"/>
                <c:pt idx="0">
                  <c:v>Precision</c:v>
                </c:pt>
                <c:pt idx="1">
                  <c:v>Recall</c:v>
                </c:pt>
                <c:pt idx="2">
                  <c:v>F1</c:v>
                </c:pt>
              </c:strCache>
            </c:strRef>
          </c:cat>
          <c:val>
            <c:numRef>
              <c:f>'Chart Data'!$B$2:$B$4</c:f>
              <c:numCache>
                <c:formatCode>0.0</c:formatCode>
                <c:ptCount val="3"/>
                <c:pt idx="0">
                  <c:v>0.5882352941</c:v>
                </c:pt>
                <c:pt idx="1">
                  <c:v>0.8333333333</c:v>
                </c:pt>
                <c:pt idx="2">
                  <c:v>0.6896551724</c:v>
                </c:pt>
              </c:numCache>
            </c:numRef>
          </c:val>
        </c:ser>
        <c:ser>
          <c:idx val="1"/>
          <c:order val="1"/>
          <c:tx>
            <c:v>测试 30 单元</c:v>
          </c:tx>
          <c:spPr>
            <a:solidFill xmlns:a="http://schemas.openxmlformats.org/drawingml/2006/main">
              <a:srgbClr val="C24E2A"/>
            </a:solidFill>
          </c:spPr>
          <c:invertIfNegative val="0"/>
          <c:cat>
            <c:strRef>
              <c:f>'Chart Data'!$C$2:$C$4</c:f>
              <c:strCache>
                <c:ptCount val="3"/>
                <c:pt idx="0">
                  <c:v>Precision</c:v>
                </c:pt>
                <c:pt idx="1">
                  <c:v>Recall</c:v>
                </c:pt>
                <c:pt idx="2">
                  <c:v>F1</c:v>
                </c:pt>
              </c:strCache>
            </c:strRef>
          </c:cat>
          <c:val>
            <c:numRef>
              <c:f>'Chart Data'!$D$2:$D$4</c:f>
              <c:numCache>
                <c:formatCode>0.0</c:formatCode>
                <c:ptCount val="3"/>
                <c:pt idx="0">
                  <c:v>0.5681818182</c:v>
                </c:pt>
                <c:pt idx="1">
                  <c:v>0.9615384615</c:v>
                </c:pt>
                <c:pt idx="2">
                  <c:v>0.7142857143</c:v>
                </c:pt>
              </c:numCache>
            </c:numRef>
          </c:val>
        </c:ser>
        <c:dLbls>
          <c:numFmt formatCode="0.000" sourceLinked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125" b="1">
                  <a:solidFill>
                    <a:srgbClr val="172D36"/>
                  </a:solidFill>
                  <a:latin typeface="Songti SC"/>
                  <a:ea typeface="Songti SC"/>
                  <a:cs typeface="Songti SC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-1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CEC4B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</a:p>
        </c:txPr>
        <c:crossAx val="48672768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2DBCF"/>
              </a:solidFill>
              <a:prstDash val="solid"/>
            </a:ln>
          </c:spPr>
        </c:majorGridlines>
        <c:numFmt formatCode="0.0"/>
        <c:majorTickMark val="none"/>
        <c:minorTickMark val="none"/>
        <c:spPr>
          <a:ln xmlns:a="http://schemas.openxmlformats.org/drawingml/2006/main" w="9525">
            <a:solidFill>
              <a:srgbClr val="CEC4B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</a:p>
        </c:txPr>
        <c:crossAx val="48650112"/>
        <c:crossBetween val="between"/>
        <c:majorUnit val="0.2"/>
      </c:valAx>
      <c:spPr>
        <a:noFill xmlns:a="http://schemas.openxmlformats.org/drawingml/2006/main"/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275">
              <a:solidFill>
                <a:srgbClr val="172D36"/>
              </a:solidFill>
              <a:latin typeface="Songti SC"/>
              <a:ea typeface="Songti SC"/>
              <a:cs typeface="Songti SC"/>
            </a:defRPr>
          </a:pPr>
        </a:p>
      </c:txPr>
    </c:legend>
    <c:plotVisOnly val="1"/>
  </c:chart>
  <c:spPr>
    <a:noFill xmlns:a="http://schemas.openxmlformats.org/drawingml/2006/main"/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3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5B66DD7-7604-467F-9DE2-37B1DEC03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04850"/>
            <a:ext cx="7239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24E2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A6143D4-A837-4414-B19F-BB3127E5E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5143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650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650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650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650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650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650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650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650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650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650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650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pPr>
            <a:r>
              <a:rPr sz="1650" b="0" i="0">
                <a:solidFill>
                  <a:srgbClr val="B9C8CA"/>
                </a:solidFill>
                <a:latin typeface="Songti SC"/>
                <a:ea typeface="Songti SC"/>
                <a:cs typeface="Songti SC"/>
              </a:rPr>
              <a:t>知识图谱课程 · 期末汇报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1A0C8A6-F004-48F8-8FD0-E7F897C50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9906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5400" b="1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5400" b="1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5400" b="1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5400" b="1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5400" b="1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5400" b="1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5400" b="1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5400" b="1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5400" b="1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5400" b="1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5400" b="1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pPr>
            <a:r>
              <a:rPr sz="5400" b="1" i="0">
                <a:solidFill>
                  <a:srgbClr val="F7F1E6"/>
                </a:solidFill>
                <a:latin typeface="Songti SC"/>
                <a:ea typeface="Songti SC"/>
                <a:cs typeface="Songti SC"/>
              </a:rPr>
              <a:t>从代码到理由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DAC814E-9749-4F76-A312-63425C01A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781300"/>
            <a:ext cx="10096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700" b="0" i="0">
                <a:solidFill>
                  <a:srgbClr val="E9DCC9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2700" b="0" i="0">
                <a:solidFill>
                  <a:srgbClr val="E9DCC9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2700" b="0" i="0">
                <a:solidFill>
                  <a:srgbClr val="E9DCC9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2700" b="0" i="0">
                <a:solidFill>
                  <a:srgbClr val="E9DCC9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2700" b="0" i="0">
                <a:solidFill>
                  <a:srgbClr val="E9DCC9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2700" b="0" i="0">
                <a:solidFill>
                  <a:srgbClr val="E9DCC9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2700" b="0" i="0">
                <a:solidFill>
                  <a:srgbClr val="E9DCC9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2700" b="0" i="0">
                <a:solidFill>
                  <a:srgbClr val="E9DCC9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2700" b="0" i="0">
                <a:solidFill>
                  <a:srgbClr val="E9DCC9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2700" b="0" i="0">
                <a:solidFill>
                  <a:srgbClr val="E9DCC9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2700" b="0" i="0">
                <a:solidFill>
                  <a:srgbClr val="E9DCC9"/>
                </a:solidFill>
                <a:latin typeface="Songti SC"/>
                <a:ea typeface="Songti SC"/>
                <a:cs typeface="Songti SC"/>
              </a:defRPr>
            </a:pPr>
            <a:r>
              <a:rPr sz="2700" b="0" i="0">
                <a:solidFill>
                  <a:srgbClr val="E9DCC9"/>
                </a:solidFill>
                <a:latin typeface="Songti SC"/>
                <a:ea typeface="Songti SC"/>
                <a:cs typeface="Songti SC"/>
              </a:rPr>
              <a:t>开源项目历史知识图谱与可追溯问答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209D52C-37F2-4F08-A9F3-FB5BD58B3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562350"/>
            <a:ext cx="9334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800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800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800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800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800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800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800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800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800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800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800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pPr>
            <a:r>
              <a:rPr sz="1800" b="0" i="0">
                <a:solidFill>
                  <a:srgbClr val="AFC1C5"/>
                </a:solidFill>
                <a:latin typeface="Songti SC"/>
                <a:ea typeface="Songti SC"/>
                <a:cs typeface="Songti SC"/>
              </a:rPr>
              <a:t>基于 relore · 以 Flask 为主要实验对象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FF1E8BE-D18F-4130-A426-48877FE1B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371975"/>
            <a:ext cx="4000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24E2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E007136-7FC6-4875-A1D2-878686EA8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629150"/>
            <a:ext cx="9429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875" b="0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875" b="0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875" b="0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875" b="0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875" b="0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875" b="0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875" b="0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875" b="0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875" b="0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875" b="0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875" b="0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pPr>
            <a:r>
              <a:rPr sz="1875" b="0" i="0">
                <a:solidFill>
                  <a:srgbClr val="F7F1E6"/>
                </a:solidFill>
                <a:latin typeface="Songti SC"/>
                <a:ea typeface="Songti SC"/>
                <a:cs typeface="Songti SC"/>
              </a:rPr>
              <a:t>输入公开 Python 仓库链接，自动整理有限历史，连接证据，并让答案回到冻结原文。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614C37C-A54E-466E-B0EF-B45EFB315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810250"/>
            <a:ext cx="781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425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425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425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425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425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425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425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425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425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425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425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pPr>
            <a:r>
              <a:rPr sz="1425" b="0" i="0">
                <a:solidFill>
                  <a:srgbClr val="B9C8CA"/>
                </a:solidFill>
                <a:latin typeface="Songti SC"/>
                <a:ea typeface="Songti SC"/>
                <a:cs typeface="Songti SC"/>
              </a:rPr>
              <a:t>材料定稿：2026-10-30 · 课堂日期以课程通知为准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31B7C7D-9596-4CBE-BB22-235F5B8B6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172200"/>
            <a:ext cx="781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350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350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350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350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350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350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350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350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350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350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350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pPr>
            <a:r>
              <a:rPr sz="1350" b="0" i="0">
                <a:solidFill>
                  <a:srgbClr val="B9C8CA"/>
                </a:solidFill>
                <a:latin typeface="Songti SC"/>
                <a:ea typeface="Songti SC"/>
                <a:cs typeface="Songti SC"/>
              </a:rPr>
              <a:t>六角色协作 · 姓名与学号待本人补充</a:t>
            </a:r>
          </a:p>
        </p:txBody>
      </p:sp>
    </p:spTree>
    <p:extLst>
      <p:ext uri="{BB962C8B-B14F-4D97-AF65-F5344CB8AC3E}">
        <p14:creationId xmlns:p14="http://schemas.microsoft.com/office/powerpoint/2010/main" val="158937611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0E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507465B-009B-41C6-9DF3-0B4CCAFCF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10287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研究问题：代码说明结果，历史解释为什么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8CFB4EF-C91A-4E3F-B835-7600BF91B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04925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C4B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FF2228D-B300-4833-BCF0-AA227E86A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409575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011C258-47B2-4F42-9F24-B11C8EBBB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基于 relore · Flask 冻结集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4589FC9-D335-4443-B150-BD7DC83D4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5341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2 / 10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D08B11E-2745-4F88-9E73-ACEB2DF33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当前代码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1E7A92B-D237-4FC0-AB56-5BC72DF38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4310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系统怎样运行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4DC3A89-CA20-4F37-BEA8-7E027B891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57425"/>
            <a:ext cx="4000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C4B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49817EF-FE85-4ED7-AB10-E30796341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4315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Issue / PR / review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18CE5F0-5B35-4F0D-A661-AC804B615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为什么这样改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BAFBA27-D5E7-4A1D-A363-56B39E39C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81325"/>
            <a:ext cx="4000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C4B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0ED2BFB-FC2F-4215-9346-586F27EF6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6705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Commit / File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172AC00-0D19-4B40-9AA5-412007087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9090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实际改了什么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F94EB68-8E59-471D-B6EB-8A31A8C35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05225"/>
            <a:ext cx="4000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C4B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A30586E-ADA5-4D63-A94E-FE5461AB2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9095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Release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43A65CB-4D00-486E-97D3-990668065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1480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何时进入版本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8B7591B-1440-4B44-8FD9-12B5FD90C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1600200"/>
            <a:ext cx="95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C4B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F567C9C-1A05-4134-AA86-3BC5745D9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1600200"/>
            <a:ext cx="5524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5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225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225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225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225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225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225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225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225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225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225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pPr>
            <a:r>
              <a:rPr sz="2250" b="1" i="0">
                <a:solidFill>
                  <a:srgbClr val="2F6E69"/>
                </a:solidFill>
                <a:latin typeface="Songti SC"/>
                <a:ea typeface="Songti SC"/>
                <a:cs typeface="Songti SC"/>
              </a:rPr>
              <a:t>RQ1 知识抽取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4F4179D-3BC3-42B9-AF8B-AB7713EA0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038350"/>
            <a:ext cx="55245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725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725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725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725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725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725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725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725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725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725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725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1725" b="0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能否从完整讨论中抽取属于本项目的决定、采用状态和明示理由，并保留可复算证据？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46E6142-DDA2-4BF2-870A-76F1DDF2A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257550"/>
            <a:ext cx="5524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22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22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22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22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22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22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22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22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22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22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pPr>
            <a:r>
              <a:rPr sz="2250" b="1" i="0">
                <a:solidFill>
                  <a:srgbClr val="C24E2A"/>
                </a:solidFill>
                <a:latin typeface="Songti SC"/>
                <a:ea typeface="Songti SC"/>
                <a:cs typeface="Songti SC"/>
              </a:rPr>
              <a:t>RQ2 图增强问答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E776865-F8BB-4603-86A6-5B6A6057F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695700"/>
            <a:ext cx="5524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725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725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725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725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725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725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725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725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725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725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725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1725" b="0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在相同来源、模型、提示和上下文预算下，图路径扩展是否改善跨来源问答？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514381D-B8BF-412C-A32B-5CAA8F081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101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C4B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5FCA13B-A2C0-48DD-9C2C-5AABFEA40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19700"/>
            <a:ext cx="10820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边界：一个公开 Python 仓库 · 有限近期历史 · 不执行目标源码 · 不训练基础模型 · 模型银标不等于人工金标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5E9F474-DE9E-4317-BDA5-5CD89AE67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53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0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20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20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20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20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20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20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20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20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20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20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pPr>
            <a:r>
              <a:rPr sz="2025" b="1" i="0">
                <a:solidFill>
                  <a:srgbClr val="C24E2A"/>
                </a:solidFill>
                <a:latin typeface="Songti SC"/>
                <a:ea typeface="Songti SC"/>
                <a:cs typeface="Songti SC"/>
              </a:rPr>
              <a:t>目标不是更大的图，而是可核对、可复用的答案。</a:t>
            </a:r>
          </a:p>
        </p:txBody>
      </p:sp>
    </p:spTree>
    <p:extLst>
      <p:ext uri="{BB962C8B-B14F-4D97-AF65-F5344CB8AC3E}">
        <p14:creationId xmlns:p14="http://schemas.microsoft.com/office/powerpoint/2010/main" val="214553746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4F0E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1716CCF-BCB4-450E-83C2-72A3C0A62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10287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自动URL流程：一次输入，六阶段可恢复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F809C55-0513-4839-BC47-48C4C1FCF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04925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C4B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352D9F4-BF6D-48AB-842A-DB32394F5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409575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03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1FC3363-ED0E-4F97-AB44-6047E0488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基于 relore · Flask 冻结集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5AE5397-14D3-44C5-B388-29C2701C8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5341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3 / 10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B4A4CEC-E47E-4929-BFF5-3A12712E6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04950"/>
            <a:ext cx="10820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7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7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7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7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7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7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7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7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7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7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7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725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用户只提交 repo_url。P1 统一编排，阶段检查点支持暂停与恢复。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229E5E1-6D1D-403A-9DFA-5E7594B4C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305050"/>
            <a:ext cx="101536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DE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907C686-347C-4402-A8D6-D7C20259C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85975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2D3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defPPr>
            <a:lvl1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1pPr>
            <a:lvl2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2pPr>
            <a:lvl3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3pPr>
            <a:lvl4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4pPr>
            <a:lvl5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5pPr>
            <a:lvl6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6pPr>
            <a:lvl7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7pPr>
            <a:lvl8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8pPr>
            <a:lvl9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pPr>
            <a:r>
              <a: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19C1FBA-8268-4713-8560-233034C8A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724150"/>
            <a:ext cx="1600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发现仓库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3AB9534-8110-4579-BA8E-0A2EADB95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067050"/>
            <a:ext cx="1600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P1 · 公开性 / Python 检查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F99972B-7043-4280-8A9D-E9D278ABE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2085975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2D3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defPPr>
            <a:lvl1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1pPr>
            <a:lvl2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2pPr>
            <a:lvl3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3pPr>
            <a:lvl4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4pPr>
            <a:lvl5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5pPr>
            <a:lvl6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6pPr>
            <a:lvl7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7pPr>
            <a:lvl8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8pPr>
            <a:lvl9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pPr>
            <a:r>
              <a: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D36BF8F-367C-4CD2-AB79-D6A647B75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6025" y="2724150"/>
            <a:ext cx="1600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采集讨论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42DEDAB-A1C1-41B5-9FA0-0A588B1AE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6025" y="3067050"/>
            <a:ext cx="1600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P1 + relore · 分页与完整单元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607C5A6-0AB6-489E-A4F5-0C5E143B2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085975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2D3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defPPr>
            <a:lvl1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1pPr>
            <a:lvl2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2pPr>
            <a:lvl3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3pPr>
            <a:lvl4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4pPr>
            <a:lvl5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5pPr>
            <a:lvl6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6pPr>
            <a:lvl7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7pPr>
            <a:lvl8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8pPr>
            <a:lvl9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pPr>
            <a:r>
              <a: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D5A8370-43D0-467C-A75B-8167D2F40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2724150"/>
            <a:ext cx="1600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代码事实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A2568AD-41A4-40ED-BA25-6702D0F96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3067050"/>
            <a:ext cx="1600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P3 · git / AST / 文件快照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3454410-603D-4458-86CA-8A57AAFB5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2085975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2D3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defPPr>
            <a:lvl1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1pPr>
            <a:lvl2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2pPr>
            <a:lvl3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3pPr>
            <a:lvl4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4pPr>
            <a:lvl5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5pPr>
            <a:lvl6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6pPr>
            <a:lvl7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7pPr>
            <a:lvl8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8pPr>
            <a:lvl9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pPr>
            <a:r>
              <a: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706C29E-4A3C-4B0D-83B9-2321F6376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2724150"/>
            <a:ext cx="1600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抽取决定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E77C23C-820D-4DA6-9D1C-412886357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3067050"/>
            <a:ext cx="1600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P4 · Decision + 逐字引文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6ED62F7-55C9-4683-A3DF-C15D5DAF2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085975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2D3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defPPr>
            <a:lvl1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1pPr>
            <a:lvl2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2pPr>
            <a:lvl3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3pPr>
            <a:lvl4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4pPr>
            <a:lvl5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5pPr>
            <a:lvl6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6pPr>
            <a:lvl7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7pPr>
            <a:lvl8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8pPr>
            <a:lvl9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pPr>
            <a:r>
              <a: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rPr>
              <a:t>05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748C391-0697-447B-8DD2-FEBFB7007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2724150"/>
            <a:ext cx="1600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校验冻结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50F1AEC-7804-4958-8D5C-2B4D81892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3067050"/>
            <a:ext cx="1600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P1 · 原文 / 端点 / 哈希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41EE95C-CCFE-4A64-8634-2BC467681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05975" y="2085975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24E2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defPPr>
            <a:lvl1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1pPr>
            <a:lvl2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2pPr>
            <a:lvl3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3pPr>
            <a:lvl4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4pPr>
            <a:lvl5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5pPr>
            <a:lvl6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6pPr>
            <a:lvl7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7pPr>
            <a:lvl8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8pPr>
            <a:lvl9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pPr>
            <a:r>
              <a: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rPr>
              <a:t>06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6742FAF-9DCF-43D3-946B-02C94CD0D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724150"/>
            <a:ext cx="1600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建图与问答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3608DA6-6DA6-4644-80EC-A760A3C26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067050"/>
            <a:ext cx="1600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P2 / P4 / P5 · 检索与出处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9046E93-4409-4D68-8AC0-6DD0B9E99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2190750"/>
            <a:ext cx="266700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24E2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6F777B4-D950-4E70-8B38-C5575406A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43350"/>
            <a:ext cx="333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9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9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9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9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9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9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9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9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9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9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9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pPr>
            <a:r>
              <a:rPr sz="1950" b="1" i="0">
                <a:solidFill>
                  <a:srgbClr val="C24E2A"/>
                </a:solidFill>
                <a:latin typeface="Songti SC"/>
                <a:ea typeface="Songti SC"/>
                <a:cs typeface="Songti SC"/>
              </a:rPr>
              <a:t>输入只需 repo_url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BFD3710-60E1-4223-A647-C8A7367A5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00550"/>
            <a:ext cx="1000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725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725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725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725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725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725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725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725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725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725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725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1725" b="0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不要求填写 Issue、PR、SHA 或文件路径，也不人工补边。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212656A-4D58-446C-9A3C-05754B7E8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C4B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AA9BC36-8A2F-407C-9F28-085BF6587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62550"/>
            <a:ext cx="10820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5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5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5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5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5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5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5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5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5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5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5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575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自动范围：最多 40 个完整讨论单元、24 个文件快照、3 个 Release、300 次请求。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A581240-3875-4E4C-8D12-3127140EC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62600"/>
            <a:ext cx="10820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5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5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5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5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5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5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5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5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5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5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5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575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未采到的事实进入 gaps；empty、unsupported、error 分开显示，不能把运行故障写成正确弃答。</a:t>
            </a:r>
          </a:p>
        </p:txBody>
      </p:sp>
    </p:spTree>
    <p:extLst>
      <p:ext uri="{BB962C8B-B14F-4D97-AF65-F5344CB8AC3E}">
        <p14:creationId xmlns:p14="http://schemas.microsoft.com/office/powerpoint/2010/main" val="179234805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4F0E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DA8161F-4763-41F9-9C0D-965DA36D8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10287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Schema与证据：关系必须能回到原文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AA428D1-5D07-4737-BEB8-AC2EFAAB1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04925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C4B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6B591E7-874B-4CC0-A37D-E01E1BB6B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409575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04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577914D-DF0E-49D7-BD2F-4CEC21C3D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基于 relore · Flask 冻结集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75D068C-217E-4AAB-A4F8-23B2CD2D7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5341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4 / 10</a:t>
            </a:r>
          </a:p>
        </p:txBody>
      </p:sp>
      <p:graphicFrame>
        <p:nvGraphicFrame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13C92E4-F62C-4A77-8476-A40B85A36C67}"/>
              </a:ext>
            </a:extLst>
          </p:cNvPr>
          <p:cNvGraphicFramePr/>
          <p:nvPr/>
        </p:nvGraphicFramePr>
        <p:xfrm>
          <a:off xmlns:a="http://schemas.openxmlformats.org/drawingml/2006/main" x="685800" y="1504950"/>
          <a:ext xmlns:a="http://schemas.openxmlformats.org/drawingml/2006/main" cx="5905500" cy="36004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428750"/>
                <a:gridCol w="2476500"/>
                <a:gridCol w="2000250"/>
              </a:tblGrid>
              <a:tr h="400050">
                <a:tc>
                  <a:txBody>
                    <a:bodyPr/>
                    <a:lstStyle/>
                    <a:p>
                      <a:r>
                        <a:rPr sz="1163" b="1">
                          <a:solidFill>
                            <a:srgbClr val="FFFFFF"/>
                          </a:solidFill>
                          <a:latin typeface="Songti SC"/>
                          <a:ea typeface="Songti SC"/>
                          <a:cs typeface="Songti SC"/>
                        </a:rPr>
                        <a:t>实体（含 P3 增量）</a:t>
                      </a:r>
                    </a:p>
                  </a:txBody>
                  <a:tcPr marL="95250" marR="95250" marT="47625" marB="47625">
                    <a:lnL w="7620">
                      <a:solidFill>
                        <a:srgbClr val="CEC4B4"/>
                      </a:solidFill>
                      <a:prstDash val="solid"/>
                    </a:lnL>
                    <a:lnR w="7620">
                      <a:solidFill>
                        <a:srgbClr val="CEC4B4"/>
                      </a:solidFill>
                      <a:prstDash val="solid"/>
                    </a:lnR>
                    <a:lnT w="7620">
                      <a:solidFill>
                        <a:srgbClr val="CEC4B4"/>
                      </a:solidFill>
                      <a:prstDash val="solid"/>
                    </a:lnT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172D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63" b="1">
                          <a:solidFill>
                            <a:srgbClr val="FFFFFF"/>
                          </a:solidFill>
                          <a:latin typeface="Songti SC"/>
                          <a:ea typeface="Songti SC"/>
                          <a:cs typeface="Songti SC"/>
                        </a:rPr>
                        <a:t>关键字段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CEC4B4"/>
                      </a:solidFill>
                      <a:prstDash val="solid"/>
                    </a:lnR>
                    <a:lnT w="7620">
                      <a:solidFill>
                        <a:srgbClr val="CEC4B4"/>
                      </a:solidFill>
                      <a:prstDash val="solid"/>
                    </a:lnT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172D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63" b="1">
                          <a:solidFill>
                            <a:srgbClr val="FFFFFF"/>
                          </a:solidFill>
                          <a:latin typeface="Songti SC"/>
                          <a:ea typeface="Songti SC"/>
                          <a:cs typeface="Songti SC"/>
                        </a:rPr>
                        <a:t>证据入口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CEC4B4"/>
                      </a:solidFill>
                      <a:prstDash val="solid"/>
                    </a:lnR>
                    <a:lnT w="7620">
                      <a:solidFill>
                        <a:srgbClr val="CEC4B4"/>
                      </a:solidFill>
                      <a:prstDash val="solid"/>
                    </a:lnT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172D36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r>
                        <a:rPr sz="1163" b="0">
                          <a:solidFill>
                            <a:srgbClr val="172D36"/>
                          </a:solidFill>
                          <a:latin typeface="Songti SC"/>
                          <a:ea typeface="Songti SC"/>
                          <a:cs typeface="Songti SC"/>
                        </a:rPr>
                        <a:t>Project</a:t>
                      </a:r>
                    </a:p>
                  </a:txBody>
                  <a:tcPr marL="95250" marR="95250" marT="47625" marB="47625">
                    <a:lnL w="7620">
                      <a:solidFill>
                        <a:srgbClr val="CEC4B4"/>
                      </a:solidFill>
                      <a:prstDash val="solid"/>
                    </a:lnL>
                    <a:lnR w="7620">
                      <a:solidFill>
                        <a:srgbClr val="CEC4B4"/>
                      </a:solidFill>
                      <a:prstDash val="solid"/>
                    </a:lnR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F2EC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63" b="0">
                          <a:solidFill>
                            <a:srgbClr val="172D36"/>
                          </a:solidFill>
                          <a:latin typeface="Songti SC"/>
                          <a:ea typeface="Songti SC"/>
                          <a:cs typeface="Songti SC"/>
                        </a:rPr>
                        <a:t>repo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CEC4B4"/>
                      </a:solidFill>
                      <a:prstDash val="solid"/>
                    </a:lnR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F2EC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63" b="0">
                          <a:solidFill>
                            <a:srgbClr val="172D36"/>
                          </a:solidFill>
                          <a:latin typeface="Songti SC"/>
                          <a:ea typeface="Songti SC"/>
                          <a:cs typeface="Songti SC"/>
                        </a:rPr>
                        <a:t>GitHub API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CEC4B4"/>
                      </a:solidFill>
                      <a:prstDash val="solid"/>
                    </a:lnR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F2ECE2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r>
                        <a:rPr sz="1163" b="0">
                          <a:solidFill>
                            <a:srgbClr val="172D36"/>
                          </a:solidFill>
                          <a:latin typeface="Songti SC"/>
                          <a:ea typeface="Songti SC"/>
                          <a:cs typeface="Songti SC"/>
                        </a:rPr>
                        <a:t>Issue / PullRequest</a:t>
                      </a:r>
                    </a:p>
                  </a:txBody>
                  <a:tcPr marL="95250" marR="95250" marT="47625" marB="47625">
                    <a:lnL w="7620">
                      <a:solidFill>
                        <a:srgbClr val="CEC4B4"/>
                      </a:solidFill>
                      <a:prstDash val="solid"/>
                    </a:lnL>
                    <a:lnR w="7620">
                      <a:solidFill>
                        <a:srgbClr val="CEC4B4"/>
                      </a:solidFill>
                      <a:prstDash val="solid"/>
                    </a:lnR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FBF8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63" b="0">
                          <a:solidFill>
                            <a:srgbClr val="172D36"/>
                          </a:solidFill>
                          <a:latin typeface="Songti SC"/>
                          <a:ea typeface="Songti SC"/>
                          <a:cs typeface="Songti SC"/>
                        </a:rPr>
                        <a:t>number, state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CEC4B4"/>
                      </a:solidFill>
                      <a:prstDash val="solid"/>
                    </a:lnR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FBF8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63" b="0">
                          <a:solidFill>
                            <a:srgbClr val="172D36"/>
                          </a:solidFill>
                          <a:latin typeface="Songti SC"/>
                          <a:ea typeface="Songti SC"/>
                          <a:cs typeface="Songti SC"/>
                        </a:rPr>
                        <a:t>body / comment / events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CEC4B4"/>
                      </a:solidFill>
                      <a:prstDash val="solid"/>
                    </a:lnR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FBF8F1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r>
                        <a:rPr sz="1163" b="0">
                          <a:solidFill>
                            <a:srgbClr val="172D36"/>
                          </a:solidFill>
                          <a:latin typeface="Songti SC"/>
                          <a:ea typeface="Songti SC"/>
                          <a:cs typeface="Songti SC"/>
                        </a:rPr>
                        <a:t>Commit</a:t>
                      </a:r>
                    </a:p>
                  </a:txBody>
                  <a:tcPr marL="95250" marR="95250" marT="47625" marB="47625">
                    <a:lnL w="7620">
                      <a:solidFill>
                        <a:srgbClr val="CEC4B4"/>
                      </a:solidFill>
                      <a:prstDash val="solid"/>
                    </a:lnL>
                    <a:lnR w="7620">
                      <a:solidFill>
                        <a:srgbClr val="CEC4B4"/>
                      </a:solidFill>
                      <a:prstDash val="solid"/>
                    </a:lnR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F2EC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63" b="0">
                          <a:solidFill>
                            <a:srgbClr val="172D36"/>
                          </a:solidFill>
                          <a:latin typeface="Songti SC"/>
                          <a:ea typeface="Songti SC"/>
                          <a:cs typeface="Songti SC"/>
                        </a:rPr>
                        <a:t>full SHA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CEC4B4"/>
                      </a:solidFill>
                      <a:prstDash val="solid"/>
                    </a:lnR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F2EC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63" b="0">
                          <a:solidFill>
                            <a:srgbClr val="172D36"/>
                          </a:solidFill>
                          <a:latin typeface="Songti SC"/>
                          <a:ea typeface="Songti SC"/>
                          <a:cs typeface="Songti SC"/>
                        </a:rPr>
                        <a:t>git / API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CEC4B4"/>
                      </a:solidFill>
                      <a:prstDash val="solid"/>
                    </a:lnR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F2ECE2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r>
                        <a:rPr sz="1163" b="0">
                          <a:solidFill>
                            <a:srgbClr val="172D36"/>
                          </a:solidFill>
                          <a:latin typeface="Songti SC"/>
                          <a:ea typeface="Songti SC"/>
                          <a:cs typeface="Songti SC"/>
                        </a:rPr>
                        <a:t>File</a:t>
                      </a:r>
                    </a:p>
                  </a:txBody>
                  <a:tcPr marL="95250" marR="95250" marT="47625" marB="47625">
                    <a:lnL w="7620">
                      <a:solidFill>
                        <a:srgbClr val="CEC4B4"/>
                      </a:solidFill>
                      <a:prstDash val="solid"/>
                    </a:lnL>
                    <a:lnR w="7620">
                      <a:solidFill>
                        <a:srgbClr val="CEC4B4"/>
                      </a:solidFill>
                      <a:prstDash val="solid"/>
                    </a:lnR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FBF8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63" b="0">
                          <a:solidFill>
                            <a:srgbClr val="172D36"/>
                          </a:solidFill>
                          <a:latin typeface="Songti SC"/>
                          <a:ea typeface="Songti SC"/>
                          <a:cs typeface="Songti SC"/>
                        </a:rPr>
                        <a:t>path + commit SHA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CEC4B4"/>
                      </a:solidFill>
                      <a:prstDash val="solid"/>
                    </a:lnR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FBF8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63" b="0">
                          <a:solidFill>
                            <a:srgbClr val="172D36"/>
                          </a:solidFill>
                          <a:latin typeface="Songti SC"/>
                          <a:ea typeface="Songti SC"/>
                          <a:cs typeface="Songti SC"/>
                        </a:rPr>
                        <a:t>冻结源码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CEC4B4"/>
                      </a:solidFill>
                      <a:prstDash val="solid"/>
                    </a:lnR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FBF8F1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r>
                        <a:rPr sz="1163" b="0">
                          <a:solidFill>
                            <a:srgbClr val="172D36"/>
                          </a:solidFill>
                          <a:latin typeface="Songti SC"/>
                          <a:ea typeface="Songti SC"/>
                          <a:cs typeface="Songti SC"/>
                        </a:rPr>
                        <a:t>Release</a:t>
                      </a:r>
                    </a:p>
                  </a:txBody>
                  <a:tcPr marL="95250" marR="95250" marT="47625" marB="47625">
                    <a:lnL w="7620">
                      <a:solidFill>
                        <a:srgbClr val="CEC4B4"/>
                      </a:solidFill>
                      <a:prstDash val="solid"/>
                    </a:lnL>
                    <a:lnR w="7620">
                      <a:solidFill>
                        <a:srgbClr val="CEC4B4"/>
                      </a:solidFill>
                      <a:prstDash val="solid"/>
                    </a:lnR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F2EC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63" b="0">
                          <a:solidFill>
                            <a:srgbClr val="172D36"/>
                          </a:solidFill>
                          <a:latin typeface="Songti SC"/>
                          <a:ea typeface="Songti SC"/>
                          <a:cs typeface="Songti SC"/>
                        </a:rPr>
                        <a:t>tag + commit SHA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CEC4B4"/>
                      </a:solidFill>
                      <a:prstDash val="solid"/>
                    </a:lnR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F2EC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63" b="0">
                          <a:solidFill>
                            <a:srgbClr val="172D36"/>
                          </a:solidFill>
                          <a:latin typeface="Songti SC"/>
                          <a:ea typeface="Songti SC"/>
                          <a:cs typeface="Songti SC"/>
                        </a:rPr>
                        <a:t>release notes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CEC4B4"/>
                      </a:solidFill>
                      <a:prstDash val="solid"/>
                    </a:lnR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F2ECE2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r>
                        <a:rPr sz="1163" b="0">
                          <a:solidFill>
                            <a:srgbClr val="172D36"/>
                          </a:solidFill>
                          <a:latin typeface="Songti SC"/>
                          <a:ea typeface="Songti SC"/>
                          <a:cs typeface="Songti SC"/>
                        </a:rPr>
                        <a:t>Decision</a:t>
                      </a:r>
                    </a:p>
                  </a:txBody>
                  <a:tcPr marL="95250" marR="95250" marT="47625" marB="47625">
                    <a:lnL w="7620">
                      <a:solidFill>
                        <a:srgbClr val="CEC4B4"/>
                      </a:solidFill>
                      <a:prstDash val="solid"/>
                    </a:lnL>
                    <a:lnR w="7620">
                      <a:solidFill>
                        <a:srgbClr val="CEC4B4"/>
                      </a:solidFill>
                      <a:prstDash val="solid"/>
                    </a:lnR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FBF8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63" b="0">
                          <a:solidFill>
                            <a:srgbClr val="172D36"/>
                          </a:solidFill>
                          <a:latin typeface="Songti SC"/>
                          <a:ea typeface="Songti SC"/>
                          <a:cs typeface="Songti SC"/>
                        </a:rPr>
                        <a:t>subject, action, status, rationale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CEC4B4"/>
                      </a:solidFill>
                      <a:prstDash val="solid"/>
                    </a:lnR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FBF8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63" b="0">
                          <a:solidFill>
                            <a:srgbClr val="172D36"/>
                          </a:solidFill>
                          <a:latin typeface="Songti SC"/>
                          <a:ea typeface="Songti SC"/>
                          <a:cs typeface="Songti SC"/>
                        </a:rPr>
                        <a:t>逐字引文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CEC4B4"/>
                      </a:solidFill>
                      <a:prstDash val="solid"/>
                    </a:lnR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FBF8F1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r>
                        <a:rPr sz="1163" b="0">
                          <a:solidFill>
                            <a:srgbClr val="172D36"/>
                          </a:solidFill>
                          <a:latin typeface="Songti SC"/>
                          <a:ea typeface="Songti SC"/>
                          <a:cs typeface="Songti SC"/>
                        </a:rPr>
                        <a:t>Developer</a:t>
                      </a:r>
                    </a:p>
                  </a:txBody>
                  <a:tcPr marL="95250" marR="95250" marT="47625" marB="47625">
                    <a:lnL w="7620">
                      <a:solidFill>
                        <a:srgbClr val="CEC4B4"/>
                      </a:solidFill>
                      <a:prstDash val="solid"/>
                    </a:lnL>
                    <a:lnR w="7620">
                      <a:solidFill>
                        <a:srgbClr val="CEC4B4"/>
                      </a:solidFill>
                      <a:prstDash val="solid"/>
                    </a:lnR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F2EC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63" b="0">
                          <a:solidFill>
                            <a:srgbClr val="172D36"/>
                          </a:solidFill>
                          <a:latin typeface="Songti SC"/>
                          <a:ea typeface="Songti SC"/>
                          <a:cs typeface="Songti SC"/>
                        </a:rPr>
                        <a:t>GitHub id / login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CEC4B4"/>
                      </a:solidFill>
                      <a:prstDash val="solid"/>
                    </a:lnR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F2EC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63" b="0">
                          <a:solidFill>
                            <a:srgbClr val="172D36"/>
                          </a:solidFill>
                          <a:latin typeface="Songti SC"/>
                          <a:ea typeface="Songti SC"/>
                          <a:cs typeface="Songti SC"/>
                        </a:rPr>
                        <a:t>PR JSON user / merged_by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CEC4B4"/>
                      </a:solidFill>
                      <a:prstDash val="solid"/>
                    </a:lnR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F2ECE2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r>
                        <a:rPr sz="1163" b="0">
                          <a:solidFill>
                            <a:srgbClr val="172D36"/>
                          </a:solidFill>
                          <a:latin typeface="Songti SC"/>
                          <a:ea typeface="Songti SC"/>
                          <a:cs typeface="Songti SC"/>
                        </a:rPr>
                        <a:t>Function</a:t>
                      </a:r>
                    </a:p>
                  </a:txBody>
                  <a:tcPr marL="95250" marR="95250" marT="47625" marB="47625">
                    <a:lnL w="7620">
                      <a:solidFill>
                        <a:srgbClr val="CEC4B4"/>
                      </a:solidFill>
                      <a:prstDash val="solid"/>
                    </a:lnL>
                    <a:lnR w="7620">
                      <a:solidFill>
                        <a:srgbClr val="CEC4B4"/>
                      </a:solidFill>
                      <a:prstDash val="solid"/>
                    </a:lnR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FBF8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63" b="0">
                          <a:solidFill>
                            <a:srgbClr val="172D36"/>
                          </a:solidFill>
                          <a:latin typeface="Songti SC"/>
                          <a:ea typeface="Songti SC"/>
                          <a:cs typeface="Songti SC"/>
                        </a:rPr>
                        <a:t>qualified_name + SHA + line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CEC4B4"/>
                      </a:solidFill>
                      <a:prstDash val="solid"/>
                    </a:lnR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FBF8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63" b="0">
                          <a:solidFill>
                            <a:srgbClr val="172D36"/>
                          </a:solidFill>
                          <a:latin typeface="Songti SC"/>
                          <a:ea typeface="Songti SC"/>
                          <a:cs typeface="Songti SC"/>
                        </a:rPr>
                        <a:t>AST function signature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CEC4B4"/>
                      </a:solidFill>
                      <a:prstDash val="solid"/>
                    </a:lnR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FBF8F1"/>
                    </a:solidFill>
                  </a:tcPr>
                </a:tc>
              </a:tr>
            </a:tbl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BA66AC4-093A-4DB0-94B8-EB214F1E2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1504950"/>
            <a:ext cx="4286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1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21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21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21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21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21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21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21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21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21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21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pPr>
            <a:r>
              <a:rPr sz="2100" b="1" i="0">
                <a:solidFill>
                  <a:srgbClr val="2F6E69"/>
                </a:solidFill>
                <a:latin typeface="Songti SC"/>
                <a:ea typeface="Songti SC"/>
                <a:cs typeface="Songti SC"/>
              </a:rPr>
              <a:t>Evidence 契约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4EFABA6-EEBE-4CFF-A7EF-79E14BEDB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1952625"/>
            <a:ext cx="4381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1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21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21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21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21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21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21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21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21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21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21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2100" b="1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text[start:end] == quote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B882EF7-EFC3-4B8C-AACA-713F5839B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381250"/>
            <a:ext cx="4381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0-based Unicode 码点 · 左闭右开</a:t>
            </a:r>
          </a:p>
          <a:p xmlns:a="http://schemas.openxmlformats.org/drawingml/2006/main">
            <a: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source_id + text_sha256 + URL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CB9F0C1-30CD-4901-872F-0524E546D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114675"/>
            <a:ext cx="4286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C4B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97BD063-40CA-422C-81AB-3E019B1AD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219450"/>
            <a:ext cx="447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5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5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5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5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5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5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5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5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5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5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5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pPr>
            <a:r>
              <a:rPr sz="1575" b="1" i="0">
                <a:solidFill>
                  <a:srgbClr val="2F6E69"/>
                </a:solidFill>
                <a:latin typeface="Songti SC"/>
                <a:ea typeface="Songti SC"/>
                <a:cs typeface="Songti SC"/>
              </a:rPr>
              <a:t>P3 增量 · 新数据版本只读重放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0E528B4-619F-4E1E-B263-FDA7DE8A7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524250"/>
            <a:ext cx="4476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18 Developer  ·  384 Function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DA48A77-B19C-4DC3-BFD7-EB2989DE7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952875"/>
            <a:ext cx="16002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313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313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313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313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313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313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313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313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313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313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313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1313" b="1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Authored 20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49B21CC-DB6D-4A80-92B3-CDA1BBE75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3952875"/>
            <a:ext cx="26479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313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313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313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313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313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313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313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313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313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313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313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313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Developer → PullRequest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483EF00-EBDB-4E7F-B803-B3C620254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276725"/>
            <a:ext cx="16002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313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313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313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313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313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313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313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313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313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313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313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1313" b="1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Merged 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FC7A45B-5F52-435E-B444-FC1F56732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4276725"/>
            <a:ext cx="26479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313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313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313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313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313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313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313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313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313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313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313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313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Developer → PullRequest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BFFCCC1-4099-4E66-B939-7FA57ACD8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600575"/>
            <a:ext cx="16002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313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313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313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313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313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313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313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313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313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313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313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1313" b="1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Defines 384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17DDC17-ACAB-4F36-8DBB-293B71974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4600575"/>
            <a:ext cx="26479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313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313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313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313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313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313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313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313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313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313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313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313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File → Function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BF9081F-7C31-43A2-AE03-28A73DBD3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95300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20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20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20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20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20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20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20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20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20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20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20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pPr>
            <a:r>
              <a:rPr sz="1200" b="1" i="0">
                <a:solidFill>
                  <a:srgbClr val="C24E2A"/>
                </a:solidFill>
                <a:latin typeface="Songti SC"/>
                <a:ea typeface="Songti SC"/>
                <a:cs typeface="Songti SC"/>
              </a:rPr>
              <a:t>PR→Commit 仍为 P1 的 MergedAs；不生成 Developer→Commit。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6E77AD8-AD49-4B49-9014-752232DB4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57800"/>
            <a:ext cx="10820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388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388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388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388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388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388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388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388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388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388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388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pPr>
            <a:r>
              <a:rPr sz="1388" b="1" i="0">
                <a:solidFill>
                  <a:srgbClr val="C24E2A"/>
                </a:solidFill>
                <a:latin typeface="Songti SC"/>
                <a:ea typeface="Songti SC"/>
                <a:cs typeface="Songti SC"/>
              </a:rPr>
              <a:t>语义护栏：ClaimsToClose 仅是声明，Closes 需官方事件；MentionsPR 仅是提及，ReachableIn 需 git 证明。</a:t>
            </a:r>
          </a:p>
          <a:p xmlns:a="http://schemas.openxmlformats.org/drawingml/2006/main">
            <a:pPr algn="l">
              <a:defRPr sz="1388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pPr>
            <a:r>
              <a:rPr sz="1388" b="1" i="0">
                <a:solidFill>
                  <a:srgbClr val="C24E2A"/>
                </a:solidFill>
                <a:latin typeface="Songti SC"/>
                <a:ea typeface="Songti SC"/>
                <a:cs typeface="Songti SC"/>
              </a:rPr>
              <a:t>Decision 状态不自动等于功能已修复。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8146670-87C2-4774-AB5D-AE5ABC827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29300"/>
            <a:ext cx="10820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旧 1.4.1 生产图保持只读；Developer/Function 增量来自新数据版本重放，不是原地补写。</a:t>
            </a:r>
          </a:p>
        </p:txBody>
      </p:sp>
    </p:spTree>
    <p:extLst>
      <p:ext uri="{BB962C8B-B14F-4D97-AF65-F5344CB8AC3E}">
        <p14:creationId xmlns:p14="http://schemas.microsoft.com/office/powerpoint/2010/main" val="3043280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4F0E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04A3788-E044-4312-8B1D-944309BF6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10287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真实数据集范围：369条来源，40个完整讨论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05400B8-1907-485A-925A-3755763A1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04925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C4B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B14AE05-03AC-4B93-99E9-EF47CBF2E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409575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5F7DE60-5CD6-496C-93FF-D881B2E2D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基于 relore · Flask 冻结集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527585F-4CC3-462E-A02B-BB85D06B4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5341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5 / 10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7A07FF2-97B6-468B-B236-B005001D5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95450"/>
            <a:ext cx="1428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369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6482242-DB53-4EDC-88AD-2E5679DEC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479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冻结来源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4D4B4D8-4E51-4D49-8AED-1FCF1E0B1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1695450"/>
            <a:ext cx="1428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40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D2AE2D5-63F9-44C6-A53A-C5AAC19D9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2479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完整讨论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76B72F0-0F2E-4C21-9C1C-75742B5E4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1695450"/>
            <a:ext cx="1428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24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4ACDD7E-D900-484A-BEA0-A2FB16F1E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22479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文件快照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5727F32-B554-44DE-BB05-8AA1512E7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1428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133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C273660-0E73-4AD4-B118-B614F726F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099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业务实体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1519F1A-E8EE-4AB2-9F36-1D7612871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857500"/>
            <a:ext cx="1428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183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EAFB939-C18B-4939-8616-3989540FB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4099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关系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6F7E784-81C3-4BCB-AE09-DA8C635DB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2857500"/>
            <a:ext cx="1428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333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71C4469-7D3D-454F-9423-B87D75142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34099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证据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2316740-E216-4A1C-BE5E-555D3C55F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57625"/>
            <a:ext cx="5029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C4B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ABFFA99-4294-44F5-8D53-21666AFAB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38600"/>
            <a:ext cx="5143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57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57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57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57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57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57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57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57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57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57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57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pPr>
            <a:r>
              <a:rPr sz="1575" b="1" i="0">
                <a:solidFill>
                  <a:srgbClr val="C24E2A"/>
                </a:solidFill>
                <a:latin typeface="Songti SC"/>
                <a:ea typeface="Songti SC"/>
                <a:cs typeface="Songti SC"/>
              </a:rPr>
              <a:t>61 Decision 已包含在 133 个实体中，不重复相加。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6A6E45F-FFA2-475F-B5A2-7A73F9F54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33900"/>
            <a:ext cx="5143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已采记录：2019-05-10 至 2026-10-27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5CEF97C-FA2E-421A-B9E6-DF4564F16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5143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profile：course_small_v1 · 同一真实 job 已 ready/index_graph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20E752D-2FF5-4E6D-9DDE-42F04B637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438275"/>
            <a:ext cx="5295900" cy="3057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EC4B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pic>
        <p:nvPic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FA3FC78-F7A3-406C-9C6B-3D83567DD2D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fcf72943c104202"/>
          <a:stretch xmlns:a="http://schemas.openxmlformats.org/drawingml/2006/main"/>
        </p:blipFill>
        <p:spPr>
          <a:xfrm xmlns:a="http://schemas.openxmlformats.org/drawingml/2006/main">
            <a:off x="6267450" y="1495425"/>
            <a:ext cx="5181600" cy="2914650"/>
          </a:xfrm>
          <a:prstGeom xmlns:a="http://schemas.openxmlformats.org/drawingml/2006/main" prst="rect">
            <a:avLst/>
          </a:prstGeom>
        </p:spPr>
      </p:pic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2EA68E9-8AD9-4412-9E2D-5DF9BDDCB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552950"/>
            <a:ext cx="5295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真实页面截图：ready / index_graph，2026-10-30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815723F-12DD-4682-AE5D-E2FD11ED5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933950"/>
            <a:ext cx="5295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页面同时显示 584 项覆盖缺口与限制：关联讨论超限 13、版本可达未确认 12、外部依赖或未解析导入 374、未采导入目标 181。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6EBF3A8-4177-48CD-AA1B-3F4A4C4D7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0"/>
            <a:ext cx="1066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有限近期采样不是 Flask 全历史；584 项覆盖缺口/限制不等同于 584 个事实错误。</a:t>
            </a:r>
          </a:p>
        </p:txBody>
      </p:sp>
    </p:spTree>
    <p:extLst>
      <p:ext uri="{BB962C8B-B14F-4D97-AF65-F5344CB8AC3E}">
        <p14:creationId xmlns:p14="http://schemas.microsoft.com/office/powerpoint/2010/main" val="54275701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4F0E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7817A07-1D7E-4B1D-B98E-B15174CC5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10287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跨源案例：PR #6096 到函数实体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38336D5-ACE0-474C-BD2E-5F2A04809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04925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C4B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886F944-AECA-4630-AC76-88EE62C40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409575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2F0C17D-CBCC-47E9-A454-3BA15280E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基于 relore · Flask 冻结集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72B9325-849B-44DD-9A7A-4255B60F2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5341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6 / 10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D267299-0C87-437A-9B21-3FB09C1B9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04950"/>
            <a:ext cx="10820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固定链：PR #6096（lkk7→davidism）→ 05e9c6b → src/flask/testing.py → flask.testing._get_werkzeug_version · 新数据版本只读重放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9C02DD6-2F76-4F58-8A3B-26640E4C2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4191000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D8CC"/>
          </a:solidFill>
          <a:ln xmlns:a="http://schemas.openxmlformats.org/drawingml/2006/main" w="9525">
            <a:solidFill>
              <a:srgbClr val="C24E2A"/>
            </a:solidFill>
            <a:prstDash val="solid"/>
          </a:ln>
        </p:spPr>
        <p:txBody>
          <a:bodyPr xmlns:a="http://schemas.openxmlformats.org/drawingml/2006/main" lIns="95250" tIns="95250" rIns="95250" bIns="95250" anchor="ctr"/>
          <a:lstStyle xmlns:a="http://schemas.openxmlformats.org/drawingml/2006/main">
            <a:defPPr algn="ctr">
              <a:defRPr sz="1425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ctr">
              <a:defRPr sz="1425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ctr">
              <a:defRPr sz="1425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ctr">
              <a:defRPr sz="1425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ctr">
              <a:defRPr sz="1425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ctr">
              <a:defRPr sz="1425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ctr">
              <a:defRPr sz="1425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ctr">
              <a:defRPr sz="1425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ctr">
              <a:defRPr sz="1425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ctr">
              <a:defRPr sz="1425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ctr">
              <a:defRPr sz="1425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1425" b="1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PullRequest #6096</a:t>
            </a:r>
          </a:p>
          <a:p xmlns:a="http://schemas.openxmlformats.org/drawingml/2006/main">
            <a:pPr algn="ctr">
              <a:defRPr sz="1425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1425" b="1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Authored：lkk7 → PR</a:t>
            </a:r>
          </a:p>
          <a:p xmlns:a="http://schemas.openxmlformats.org/drawingml/2006/main">
            <a:pPr algn="ctr">
              <a:defRPr sz="1425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1425" b="1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Merged：davidism → PR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CF421FA-0D24-4602-A7DE-AED195D73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6525" y="2895600"/>
            <a:ext cx="209550" cy="22860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2F6E69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7D6C03D-5B20-4537-ABAF-3317BF5D9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2886075"/>
            <a:ext cx="219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pPr>
            <a:r>
              <a: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rPr>
              <a:t>MergedAs（P1）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44930E9-4052-4780-BD67-E7FDBA264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00400"/>
            <a:ext cx="4191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8F1"/>
          </a:solidFill>
          <a:ln xmlns:a="http://schemas.openxmlformats.org/drawingml/2006/main" w="9525">
            <a:solidFill>
              <a:srgbClr val="CEC4B4"/>
            </a:solidFill>
            <a:prstDash val="solid"/>
          </a:ln>
        </p:spPr>
        <p:txBody>
          <a:bodyPr xmlns:a="http://schemas.openxmlformats.org/drawingml/2006/main" lIns="95250" tIns="95250" rIns="95250" bIns="95250" anchor="ctr"/>
          <a:lstStyle xmlns:a="http://schemas.openxmlformats.org/drawingml/2006/main">
            <a:defPPr algn="ctr">
              <a:defRPr sz="1350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ctr">
              <a:defRPr sz="1350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ctr">
              <a:defRPr sz="1350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ctr">
              <a:defRPr sz="1350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ctr">
              <a:defRPr sz="1350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ctr">
              <a:defRPr sz="1350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ctr">
              <a:defRPr sz="1350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ctr">
              <a:defRPr sz="1350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ctr">
              <a:defRPr sz="1350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ctr">
              <a:defRPr sz="1350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ctr">
              <a:defRPr sz="1350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1350" b="1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Commit · 05e9c6b</a:t>
            </a:r>
          </a:p>
          <a:p xmlns:a="http://schemas.openxmlformats.org/drawingml/2006/main">
            <a:pPr algn="ctr">
              <a:defRPr sz="1350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1350" b="1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05e9c6bd630ecf4ec0ec884b1fc7901663737bc7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0211FC3-6356-4029-BFBE-969D950CC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6525" y="4000500"/>
            <a:ext cx="209550" cy="22860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2F6E69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9365496-51B9-40A5-9A53-64B3FD647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3990975"/>
            <a:ext cx="152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pPr>
            <a:r>
              <a: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rPr>
              <a:t>Touches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9796A30-0776-40A8-B878-BDF3DD6DF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05300"/>
            <a:ext cx="41910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8F1"/>
          </a:solidFill>
          <a:ln xmlns:a="http://schemas.openxmlformats.org/drawingml/2006/main" w="9525">
            <a:solidFill>
              <a:srgbClr val="CEC4B4"/>
            </a:solidFill>
            <a:prstDash val="solid"/>
          </a:ln>
        </p:spPr>
        <p:txBody>
          <a:bodyPr xmlns:a="http://schemas.openxmlformats.org/drawingml/2006/main" lIns="95250" tIns="95250" rIns="95250" bIns="95250" anchor="ctr"/>
          <a:lstStyle xmlns:a="http://schemas.openxmlformats.org/drawingml/2006/main">
            <a:defPPr algn="ctr">
              <a:defRPr sz="1425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ctr">
              <a:defRPr sz="1425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ctr">
              <a:defRPr sz="1425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ctr">
              <a:defRPr sz="1425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ctr">
              <a:defRPr sz="1425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ctr">
              <a:defRPr sz="1425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ctr">
              <a:defRPr sz="1425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ctr">
              <a:defRPr sz="1425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ctr">
              <a:defRPr sz="1425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ctr">
              <a:defRPr sz="1425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ctr">
              <a:defRPr sz="1425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1425" b="1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File · src/flask/testing.py</a:t>
            </a:r>
          </a:p>
          <a:p xmlns:a="http://schemas.openxmlformats.org/drawingml/2006/main">
            <a:pPr algn="ctr">
              <a:defRPr sz="1425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1425" b="1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同 SHA 的冻结文件快照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B01124C-65B3-498B-AEA5-12E134C07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4229100"/>
            <a:ext cx="762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pPr>
            <a:r>
              <a: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rPr>
              <a:t>Defines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72DFBA4-FD3C-48A9-8BDF-BDA388094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4572000"/>
            <a:ext cx="45720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F6E69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3E2B557-465C-4FC3-A327-99952A4D2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4305300"/>
            <a:ext cx="60769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BE5"/>
          </a:solidFill>
          <a:ln xmlns:a="http://schemas.openxmlformats.org/drawingml/2006/main" w="9525">
            <a:solidFill>
              <a:srgbClr val="2F6E69"/>
            </a:solidFill>
            <a:prstDash val="solid"/>
          </a:ln>
        </p:spPr>
        <p:txBody>
          <a:bodyPr xmlns:a="http://schemas.openxmlformats.org/drawingml/2006/main" lIns="95250" tIns="95250" rIns="95250" bIns="95250" anchor="ctr"/>
          <a:lstStyle xmlns:a="http://schemas.openxmlformats.org/drawingml/2006/main">
            <a:defPPr algn="ctr">
              <a:defRPr sz="1350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ctr">
              <a:defRPr sz="1350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ctr">
              <a:defRPr sz="1350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ctr">
              <a:defRPr sz="1350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ctr">
              <a:defRPr sz="1350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ctr">
              <a:defRPr sz="1350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ctr">
              <a:defRPr sz="1350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ctr">
              <a:defRPr sz="1350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ctr">
              <a:defRPr sz="1350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ctr">
              <a:defRPr sz="1350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ctr">
              <a:defRPr sz="1350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1350" b="1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Function · flask.testing._get_werkzeug_version</a:t>
            </a:r>
          </a:p>
          <a:p xmlns:a="http://schemas.openxmlformats.org/drawingml/2006/main">
            <a:pPr algn="ctr">
              <a:defRPr sz="1350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1350" b="1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L100–106 · “def _get_werkzeug_version() -&gt; str:”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19B0FBC-4FF4-4B62-BA0A-3CAFCC4FD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9590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65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65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65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65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65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65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65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65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65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65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65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pPr>
            <a:r>
              <a:rPr sz="1650" b="1" i="0">
                <a:solidFill>
                  <a:srgbClr val="2F6E69"/>
                </a:solidFill>
                <a:latin typeface="Songti SC"/>
                <a:ea typeface="Songti SC"/>
                <a:cs typeface="Songti SC"/>
              </a:rPr>
              <a:t>这个案例证明了什么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4A67254-FE40-4D5D-9115-57A11D657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19750"/>
            <a:ext cx="4476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238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238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238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238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238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238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238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238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238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238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238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1238" b="0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讨论身份、合并动作、代码树与函数实体来自不同来源。</a:t>
            </a:r>
          </a:p>
          <a:p xmlns:a="http://schemas.openxmlformats.org/drawingml/2006/main">
            <a:pPr algn="l">
              <a:defRPr sz="1238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1238" b="0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每跳都有字段/关系/偏移证据，不靠标题或共现补边。</a:t>
            </a:r>
          </a:p>
          <a:p xmlns:a="http://schemas.openxmlformats.org/drawingml/2006/main">
            <a:pPr algn="l">
              <a:defRPr sz="1238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1238" b="0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Developer 只连 PullRequest；没有 Developer→Commit。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A24AAF4-04E6-4006-B7BD-1CEC41CBC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5257800"/>
            <a:ext cx="60769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8F1"/>
          </a:solidFill>
          <a:ln xmlns:a="http://schemas.openxmlformats.org/drawingml/2006/main" w="9525">
            <a:solidFill>
              <a:srgbClr val="CEC4B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CB123D7-57D9-440B-A203-55D57DE42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5353050"/>
            <a:ext cx="1714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3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3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3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3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3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3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3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3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3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3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3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pPr>
            <a:r>
              <a:rPr sz="1350" b="1" i="0">
                <a:solidFill>
                  <a:srgbClr val="C24E2A"/>
                </a:solidFill>
                <a:latin typeface="Songti SC"/>
                <a:ea typeface="Songti SC"/>
                <a:cs typeface="Songti SC"/>
              </a:rPr>
              <a:t>证据落点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217AFC7-D36D-4AD2-9A1E-66DB4D292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5619750"/>
            <a:ext cx="56959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238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238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238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238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238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238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238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238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238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238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238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1238" b="0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Authored / Merged：PR API 的 user / merged_by</a:t>
            </a:r>
          </a:p>
          <a:p xmlns:a="http://schemas.openxmlformats.org/drawingml/2006/main">
            <a:pPr algn="l">
              <a:defRPr sz="1238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1238" b="0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Defines：签名 [3179, 3214) · File → Function</a:t>
            </a:r>
          </a:p>
          <a:p xmlns:a="http://schemas.openxmlformats.org/drawingml/2006/main">
            <a:pPr algn="l">
              <a:defRPr sz="1238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1238" b="0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FlaskClient 是 ClassDef，不计入 Function。</a:t>
            </a:r>
          </a:p>
        </p:txBody>
      </p:sp>
    </p:spTree>
    <p:extLst>
      <p:ext uri="{BB962C8B-B14F-4D97-AF65-F5344CB8AC3E}">
        <p14:creationId xmlns:p14="http://schemas.microsoft.com/office/powerpoint/2010/main" val="196215466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4F0E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2F636A7-0531-40E3-B40B-8D029CF2D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10287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原型问答：6条claims逐条对应冻结源码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5083F45-CAC4-4BB1-947C-9FD918B9A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04925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C4B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B8E1ED6-12E3-4120-B9C7-34882781D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409575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07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B2F4B03-172E-403E-9AD3-16961E8CD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基于 relore · Flask 冻结集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A12D0F1-C483-4E10-AAFB-59A3F20E0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5341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7 / 10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3204B6C-95C1-488A-BA00-D913947F7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049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0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20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20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20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20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20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20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20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20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20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20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pPr>
            <a:r>
              <a:rPr sz="2025" b="1" i="0">
                <a:solidFill>
                  <a:srgbClr val="C24E2A"/>
                </a:solidFill>
                <a:latin typeface="Songti SC"/>
                <a:ea typeface="Songti SC"/>
                <a:cs typeface="Songti SC"/>
              </a:rPr>
              <a:t>问：FlaskClient.session_transaction 承担什么职责？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436BC3A-447F-401A-8AED-96B2F67B8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76450"/>
            <a:ext cx="4810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上下文管理器，打开会话事务，离开 with 后存回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0AFDCD9-9147-4BA6-B51E-91BD564E0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2114550"/>
            <a:ext cx="914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defPPr>
            <a:lvl1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1pPr>
            <a:lvl2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2pPr>
            <a:lvl3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3pPr>
            <a:lvl4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4pPr>
            <a:lvl5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5pPr>
            <a:lvl6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6pPr>
            <a:lvl7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7pPr>
            <a:lvl8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8pPr>
            <a:lvl9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pPr>
            <a:r>
              <a: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rPr>
              <a:t>证据 32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FB53405-8897-4930-9B16-27470281C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47950"/>
            <a:ext cx="5810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C4B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425FC1F-9113-4795-9A8B-4965BCCC7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43200"/>
            <a:ext cx="4810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创建临时请求上下文，把 Cookie 加入 WSGI environ，再打开会话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55F4E05-2F8F-4F30-A518-E132634C3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2781300"/>
            <a:ext cx="914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defPPr>
            <a:lvl1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1pPr>
            <a:lvl2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2pPr>
            <a:lvl3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3pPr>
            <a:lvl4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4pPr>
            <a:lvl5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5pPr>
            <a:lvl6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6pPr>
            <a:lvl7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7pPr>
            <a:lvl8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8pPr>
            <a:lvl9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pPr>
            <a:r>
              <a: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rPr>
              <a:t>证据 33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62D0C43-791B-49DA-85C5-07483AC9D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14700"/>
            <a:ext cx="5810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C4B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5BC3AC6-2810-41FE-A526-E05A0029D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09950"/>
            <a:ext cx="4810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null session 直接返回，否则调用 save_session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6225A01-1748-4C6F-B84D-C7A5707EA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3448050"/>
            <a:ext cx="914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defPPr>
            <a:lvl1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1pPr>
            <a:lvl2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2pPr>
            <a:lvl3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3pPr>
            <a:lvl4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4pPr>
            <a:lvl5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5pPr>
            <a:lvl6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6pPr>
            <a:lvl7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7pPr>
            <a:lvl8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8pPr>
            <a:lvl9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pPr>
            <a:r>
              <a: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rPr>
              <a:t>证据 35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FCAA4E6-072B-4B7C-A1F3-13CAD8E91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81450"/>
            <a:ext cx="5810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C4B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CB1039D-3F0B-42F8-B172-B33E397C7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76700"/>
            <a:ext cx="4810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用 Set-Cookie 更新客户端，主机名取 ctx.request.host.partition(':')[0]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3D43904-177C-41C3-83B3-313DD1251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4114800"/>
            <a:ext cx="914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defPPr>
            <a:lvl1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1pPr>
            <a:lvl2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2pPr>
            <a:lvl3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3pPr>
            <a:lvl4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4pPr>
            <a:lvl5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5pPr>
            <a:lvl6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6pPr>
            <a:lvl7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7pPr>
            <a:lvl8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8pPr>
            <a:lvl9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pPr>
            <a:r>
              <a: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rPr>
              <a:t>证据 36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A0CEFF9-095C-454E-9874-14224E8EA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0"/>
            <a:ext cx="581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共 6 条 claims；页面按原顺序展示，不另写摘要。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BE7412E-7119-45A0-8BD7-E1CCAD2C0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438275"/>
            <a:ext cx="4838700" cy="2752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EC4B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pic>
        <p:nvPic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9E4AEA4-75DB-42A9-A1CC-0EBDF22C3E6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19a23101fe34e7e"/>
          <a:stretch xmlns:a="http://schemas.openxmlformats.org/drawingml/2006/main"/>
        </p:blipFill>
        <p:spPr>
          <a:xfrm xmlns:a="http://schemas.openxmlformats.org/drawingml/2006/main">
            <a:off x="6741583" y="1495425"/>
            <a:ext cx="4690533" cy="2638425"/>
          </a:xfrm>
          <a:prstGeom xmlns:a="http://schemas.openxmlformats.org/drawingml/2006/main" prst="rect">
            <a:avLst/>
          </a:prstGeom>
        </p:spPr>
      </p:pic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A170065-A96E-45C1-A170-87B463C1C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2862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真实作业页面截图，2026-10-30；重放不调用模型。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FCE79C5-0369-441F-8CCA-EF2AE93B0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64820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4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4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4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4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4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4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4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4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4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4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4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1425" b="1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证据 36 · src/flask/testing.py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08F699C-BD07-44B6-BE04-0D7BB5F98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9339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[5886, 6057) · Unicode 码点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5647B11-FEC6-49B4-95B6-19FD1C9EE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21970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SourceDocument:c06330ce…ed37a43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A40DA63-22D7-4313-B9D0-2885EAD7A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5054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dataset:810db371…5cd00c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279D0DE-6A49-4C50-9C90-A8B58B2A4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0"/>
            <a:ext cx="1066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QueryResult 保留 ok、empty、unsupported、error 四种状态；本次另有 empty 响应原样保留。</a:t>
            </a:r>
          </a:p>
        </p:txBody>
      </p:sp>
    </p:spTree>
    <p:extLst>
      <p:ext uri="{BB962C8B-B14F-4D97-AF65-F5344CB8AC3E}">
        <p14:creationId xmlns:p14="http://schemas.microsoft.com/office/powerpoint/2010/main" val="231788210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4F0E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EDA1DDC-283F-42B6-AF12-EC1F0839B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10287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抽取实验：测试集高召回，但精度只有 0.568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4461B37-F152-483D-AAEC-45EE89121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04925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C4B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2C5287F-D053-4826-82C3-34FE5ED6F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409575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08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0E72260-67CD-40EA-A6DC-426E18A61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基于 relore · Flask 冻结集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0915CBE-0707-43C1-8FAF-18286C6C5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5341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8 / 10</a:t>
            </a:r>
          </a:p>
        </p:txBody>
      </p:sp>
      <p:graphicFrame>
        <p:nvGraphicFramePr>
          <p:cNvPr id="6" name="Chart">
            <a:extLst xmlns:a="http://schemas.openxmlformats.org/drawingml/2006/main">
              <a:ext uri="{FF2B5EF4-FFF2-40B4-BE49-F238E27FC236}">
                <a16:creationId xmlns:a16="http://schemas.microsoft.com/office/drawing/2014/main" id="{71977CED-1F2B-4919-8AED-A736E68969D3}"/>
              </a:ext>
            </a:extLst>
          </p:cNvPr>
          <p:cNvGraphicFramePr/>
          <p:nvPr/>
        </p:nvGraphicFramePr>
        <p:xfrm>
          <a:off xmlns:a="http://schemas.openxmlformats.org/drawingml/2006/main" x="685800" y="1504950"/>
          <a:ext xmlns:a="http://schemas.openxmlformats.org/drawingml/2006/main" cx="6572250" cy="3905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37d544841c445e6"/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C33EE72-ACA5-416D-94B9-E24493ED9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1504950"/>
            <a:ext cx="342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52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52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52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52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52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52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52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52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52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52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52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pPr>
            <a:r>
              <a:rPr sz="5250" b="1" i="0">
                <a:solidFill>
                  <a:srgbClr val="C24E2A"/>
                </a:solidFill>
                <a:latin typeface="Songti SC"/>
                <a:ea typeface="Songti SC"/>
                <a:cs typeface="Songti SC"/>
              </a:rPr>
              <a:t>0.714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88BDC20-8212-45F2-A552-20E0B4B3A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20980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测试集 F1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0943935-5DCF-400A-8D29-99769CCFB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2647950"/>
            <a:ext cx="3524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C4B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D94AF37-7047-4704-8DF2-D0044A05D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28575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TP / FP / FN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848BAD5-F40E-4ECD-A982-5F2A9E926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3124200"/>
            <a:ext cx="3524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22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22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22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22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22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22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22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22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22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22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2250" b="1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25 / 19 / 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65C1BDC-8F0C-468A-B651-BE3999171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363855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明示理由覆盖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89FCEFA-53FB-4166-9D4B-30F92C7FE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3905250"/>
            <a:ext cx="3524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1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21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21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21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21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21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21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21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21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21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21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2100" b="1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13 / 15 = 0.867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B70DE0D-07E0-435A-AFD9-DBF627951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4419600"/>
            <a:ext cx="3524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开发集 F1 0.690 · 理由 9/11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431863D-C760-469E-9AF3-FBC188064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4857750"/>
            <a:ext cx="1714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42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42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42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42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42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42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42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42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42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42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42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pPr>
            <a:r>
              <a:rPr sz="1425" b="1" i="0">
                <a:solidFill>
                  <a:srgbClr val="2F6E69"/>
                </a:solidFill>
                <a:latin typeface="Songti SC"/>
                <a:ea typeface="Songti SC"/>
                <a:cs typeface="Songti SC"/>
              </a:rPr>
              <a:t>评测口径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7AE7388-ACF0-4723-826B-09D78344B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5124450"/>
            <a:ext cx="3524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独立模型银标与复核；非人工金标。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AB941BE-EEA2-4DC7-B74D-EEEE08DDB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10250"/>
            <a:ext cx="10668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19 个 FP 是相对冻结银标的未匹配预测，可能含银标遗漏，但不能忽略这一精度差距。</a:t>
            </a:r>
          </a:p>
        </p:txBody>
      </p:sp>
    </p:spTree>
    <p:extLst>
      <p:ext uri="{BB962C8B-B14F-4D97-AF65-F5344CB8AC3E}">
        <p14:creationId xmlns:p14="http://schemas.microsoft.com/office/powerpoint/2010/main" val="202583065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13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8E70C53-595D-412C-831D-F79F68E75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10287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3000" b="1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3000" b="1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3000" b="1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3000" b="1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3000" b="1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3000" b="1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3000" b="1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3000" b="1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3000" b="1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3000" b="1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3000" b="1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pPr>
            <a:r>
              <a:rPr sz="3000" b="1" i="0">
                <a:solidFill>
                  <a:srgbClr val="F7F1E6"/>
                </a:solidFill>
                <a:latin typeface="Songti SC"/>
                <a:ea typeface="Songti SC"/>
                <a:cs typeface="Songti SC"/>
              </a:rPr>
              <a:t>A/B对照：事实覆盖+0.157，但区间跨零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9AF1446-ECA9-4F5A-BF04-63CB5D3E2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04925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626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79FCBCE-1238-4516-88E5-CB9A67343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409575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r">
              <a:defRPr sz="1200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defPPr>
            <a:lvl1pPr algn="r">
              <a:defRPr sz="1200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lvl1pPr>
            <a:lvl2pPr algn="r">
              <a:defRPr sz="1200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lvl2pPr>
            <a:lvl3pPr algn="r">
              <a:defRPr sz="1200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lvl3pPr>
            <a:lvl4pPr algn="r">
              <a:defRPr sz="1200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lvl4pPr>
            <a:lvl5pPr algn="r">
              <a:defRPr sz="1200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lvl5pPr>
            <a:lvl6pPr algn="r">
              <a:defRPr sz="1200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lvl6pPr>
            <a:lvl7pPr algn="r">
              <a:defRPr sz="1200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lvl7pPr>
            <a:lvl8pPr algn="r">
              <a:defRPr sz="1200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lvl8pPr>
            <a:lvl9pPr algn="r">
              <a:defRPr sz="1200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r">
              <a:defRPr sz="1200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pPr>
            <a:r>
              <a:rPr sz="1200" b="0" i="0">
                <a:solidFill>
                  <a:srgbClr val="AFC1C5"/>
                </a:solidFill>
                <a:latin typeface="Songti SC"/>
                <a:ea typeface="Songti SC"/>
                <a:cs typeface="Songti SC"/>
              </a:rPr>
              <a:t>09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E80B1F7-EF59-4CDC-B216-039B41CE0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125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125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125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125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125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125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125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125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125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125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125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pPr>
            <a:r>
              <a:rPr sz="1125" b="0" i="0">
                <a:solidFill>
                  <a:srgbClr val="AFC1C5"/>
                </a:solidFill>
                <a:latin typeface="Songti SC"/>
                <a:ea typeface="Songti SC"/>
                <a:cs typeface="Songti SC"/>
              </a:rPr>
              <a:t>基于 relore · Flask 冻结集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F9D6D22-2FD0-4905-9C3C-A2D5FF8B1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5341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r">
              <a:defRPr sz="1125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defPPr>
            <a:lvl1pPr algn="r">
              <a:defRPr sz="1125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lvl1pPr>
            <a:lvl2pPr algn="r">
              <a:defRPr sz="1125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lvl2pPr>
            <a:lvl3pPr algn="r">
              <a:defRPr sz="1125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lvl3pPr>
            <a:lvl4pPr algn="r">
              <a:defRPr sz="1125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lvl4pPr>
            <a:lvl5pPr algn="r">
              <a:defRPr sz="1125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lvl5pPr>
            <a:lvl6pPr algn="r">
              <a:defRPr sz="1125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lvl6pPr>
            <a:lvl7pPr algn="r">
              <a:defRPr sz="1125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lvl7pPr>
            <a:lvl8pPr algn="r">
              <a:defRPr sz="1125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lvl8pPr>
            <a:lvl9pPr algn="r">
              <a:defRPr sz="1125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r">
              <a:defRPr sz="1125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pPr>
            <a:r>
              <a:rPr sz="1125" b="0" i="0">
                <a:solidFill>
                  <a:srgbClr val="AFC1C5"/>
                </a:solidFill>
                <a:latin typeface="Songti SC"/>
                <a:ea typeface="Songti SC"/>
                <a:cs typeface="Songti SC"/>
              </a:rPr>
              <a:t>9 / 10</a:t>
            </a:r>
          </a:p>
        </p:txBody>
      </p:sp>
      <p:graphicFrame>
        <p:nvGraphicFrame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E7DB6E4-DF5E-4E35-92FC-C0A1A6C41004}"/>
              </a:ext>
            </a:extLst>
          </p:cNvPr>
          <p:cNvGraphicFramePr/>
          <p:nvPr/>
        </p:nvGraphicFramePr>
        <p:xfrm>
          <a:off xmlns:a="http://schemas.openxmlformats.org/drawingml/2006/main" x="685800" y="1504950"/>
          <a:ext xmlns:a="http://schemas.openxmlformats.org/drawingml/2006/main" cx="6667500" cy="22479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000250"/>
                <a:gridCol w="1381125"/>
                <a:gridCol w="1381125"/>
                <a:gridCol w="1905000"/>
              </a:tblGrid>
              <a:tr h="41910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7F1E6"/>
                          </a:solidFill>
                          <a:latin typeface="Songti SC"/>
                          <a:ea typeface="Songti SC"/>
                          <a:cs typeface="Songti SC"/>
                        </a:rPr>
                        <a:t>指标</a:t>
                      </a:r>
                    </a:p>
                  </a:txBody>
                  <a:tcPr marL="95250" marR="95250" marT="47625" marB="47625">
                    <a:lnL w="7620">
                      <a:solidFill>
                        <a:srgbClr val="4A626A"/>
                      </a:solidFill>
                      <a:prstDash val="solid"/>
                    </a:lnL>
                    <a:lnR w="7620">
                      <a:solidFill>
                        <a:srgbClr val="4A626A"/>
                      </a:solidFill>
                      <a:prstDash val="solid"/>
                    </a:lnR>
                    <a:lnT w="7620">
                      <a:solidFill>
                        <a:srgbClr val="4A626A"/>
                      </a:solidFill>
                      <a:prstDash val="solid"/>
                    </a:lnT>
                    <a:lnB w="7620">
                      <a:solidFill>
                        <a:srgbClr val="4A626A"/>
                      </a:solidFill>
                      <a:prstDash val="solid"/>
                    </a:lnB>
                    <a:solidFill>
                      <a:srgbClr val="2441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7F1E6"/>
                          </a:solidFill>
                          <a:latin typeface="Songti SC"/>
                          <a:ea typeface="Songti SC"/>
                          <a:cs typeface="Songti SC"/>
                        </a:rPr>
                        <a:t>A 检索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4A626A"/>
                      </a:solidFill>
                      <a:prstDash val="solid"/>
                    </a:lnR>
                    <a:lnT w="7620">
                      <a:solidFill>
                        <a:srgbClr val="4A626A"/>
                      </a:solidFill>
                      <a:prstDash val="solid"/>
                    </a:lnT>
                    <a:lnB w="7620">
                      <a:solidFill>
                        <a:srgbClr val="4A626A"/>
                      </a:solidFill>
                      <a:prstDash val="solid"/>
                    </a:lnB>
                    <a:solidFill>
                      <a:srgbClr val="2441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7F1E6"/>
                          </a:solidFill>
                          <a:latin typeface="Songti SC"/>
                          <a:ea typeface="Songti SC"/>
                          <a:cs typeface="Songti SC"/>
                        </a:rPr>
                        <a:t>B 图扩展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4A626A"/>
                      </a:solidFill>
                      <a:prstDash val="solid"/>
                    </a:lnR>
                    <a:lnT w="7620">
                      <a:solidFill>
                        <a:srgbClr val="4A626A"/>
                      </a:solidFill>
                      <a:prstDash val="solid"/>
                    </a:lnT>
                    <a:lnB w="7620">
                      <a:solidFill>
                        <a:srgbClr val="4A626A"/>
                      </a:solidFill>
                      <a:prstDash val="solid"/>
                    </a:lnB>
                    <a:solidFill>
                      <a:srgbClr val="2441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7F1E6"/>
                          </a:solidFill>
                          <a:latin typeface="Songti SC"/>
                          <a:ea typeface="Songti SC"/>
                          <a:cs typeface="Songti SC"/>
                        </a:rPr>
                        <a:t>观察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4A626A"/>
                      </a:solidFill>
                      <a:prstDash val="solid"/>
                    </a:lnR>
                    <a:lnT w="7620">
                      <a:solidFill>
                        <a:srgbClr val="4A626A"/>
                      </a:solidFill>
                      <a:prstDash val="solid"/>
                    </a:lnT>
                    <a:lnB w="7620">
                      <a:solidFill>
                        <a:srgbClr val="4A626A"/>
                      </a:solidFill>
                      <a:prstDash val="solid"/>
                    </a:lnB>
                    <a:solidFill>
                      <a:srgbClr val="24414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F7F1E6"/>
                          </a:solidFill>
                          <a:latin typeface="Songti SC"/>
                          <a:ea typeface="Songti SC"/>
                          <a:cs typeface="Songti SC"/>
                        </a:rPr>
                        <a:t>事实覆盖</a:t>
                      </a:r>
                    </a:p>
                  </a:txBody>
                  <a:tcPr marL="95250" marR="95250" marT="47625" marB="47625">
                    <a:lnL w="7620">
                      <a:solidFill>
                        <a:srgbClr val="4A626A"/>
                      </a:solidFill>
                      <a:prstDash val="solid"/>
                    </a:lnL>
                    <a:lnR w="7620">
                      <a:solidFill>
                        <a:srgbClr val="4A626A"/>
                      </a:solidFill>
                      <a:prstDash val="solid"/>
                    </a:lnR>
                    <a:lnB w="7620">
                      <a:solidFill>
                        <a:srgbClr val="4A626A"/>
                      </a:solidFill>
                      <a:prstDash val="solid"/>
                    </a:lnB>
                    <a:solidFill>
                      <a:srgbClr val="1B37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F7F1E6"/>
                          </a:solidFill>
                          <a:latin typeface="Songti SC"/>
                          <a:ea typeface="Songti SC"/>
                          <a:cs typeface="Songti SC"/>
                        </a:rPr>
                        <a:t>0.600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4A626A"/>
                      </a:solidFill>
                      <a:prstDash val="solid"/>
                    </a:lnR>
                    <a:lnB w="7620">
                      <a:solidFill>
                        <a:srgbClr val="4A626A"/>
                      </a:solidFill>
                      <a:prstDash val="solid"/>
                    </a:lnB>
                    <a:solidFill>
                      <a:srgbClr val="1B37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F7F1E6"/>
                          </a:solidFill>
                          <a:latin typeface="Songti SC"/>
                          <a:ea typeface="Songti SC"/>
                          <a:cs typeface="Songti SC"/>
                        </a:rPr>
                        <a:t>0.740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4A626A"/>
                      </a:solidFill>
                      <a:prstDash val="solid"/>
                    </a:lnR>
                    <a:lnB w="7620">
                      <a:solidFill>
                        <a:srgbClr val="4A626A"/>
                      </a:solidFill>
                      <a:prstDash val="solid"/>
                    </a:lnB>
                    <a:solidFill>
                      <a:srgbClr val="1B37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F7F1E6"/>
                          </a:solidFill>
                          <a:latin typeface="Songti SC"/>
                          <a:ea typeface="Songti SC"/>
                          <a:cs typeface="Songti SC"/>
                        </a:rPr>
                        <a:t>+0.140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4A626A"/>
                      </a:solidFill>
                      <a:prstDash val="solid"/>
                    </a:lnR>
                    <a:lnB w="7620">
                      <a:solidFill>
                        <a:srgbClr val="4A626A"/>
                      </a:solidFill>
                      <a:prstDash val="solid"/>
                    </a:lnB>
                    <a:solidFill>
                      <a:srgbClr val="1B374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F7F1E6"/>
                          </a:solidFill>
                          <a:latin typeface="Songti SC"/>
                          <a:ea typeface="Songti SC"/>
                          <a:cs typeface="Songti SC"/>
                        </a:rPr>
                        <a:t>证据组召回</a:t>
                      </a:r>
                    </a:p>
                  </a:txBody>
                  <a:tcPr marL="95250" marR="95250" marT="47625" marB="47625">
                    <a:lnL w="7620">
                      <a:solidFill>
                        <a:srgbClr val="4A626A"/>
                      </a:solidFill>
                      <a:prstDash val="solid"/>
                    </a:lnL>
                    <a:lnR w="7620">
                      <a:solidFill>
                        <a:srgbClr val="4A626A"/>
                      </a:solidFill>
                      <a:prstDash val="solid"/>
                    </a:lnR>
                    <a:lnB w="7620">
                      <a:solidFill>
                        <a:srgbClr val="4A626A"/>
                      </a:solidFill>
                      <a:prstDash val="solid"/>
                    </a:lnB>
                    <a:solidFill>
                      <a:srgbClr val="1731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F7F1E6"/>
                          </a:solidFill>
                          <a:latin typeface="Songti SC"/>
                          <a:ea typeface="Songti SC"/>
                          <a:cs typeface="Songti SC"/>
                        </a:rPr>
                        <a:t>0.636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4A626A"/>
                      </a:solidFill>
                      <a:prstDash val="solid"/>
                    </a:lnR>
                    <a:lnB w="7620">
                      <a:solidFill>
                        <a:srgbClr val="4A626A"/>
                      </a:solidFill>
                      <a:prstDash val="solid"/>
                    </a:lnB>
                    <a:solidFill>
                      <a:srgbClr val="1731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F7F1E6"/>
                          </a:solidFill>
                          <a:latin typeface="Songti SC"/>
                          <a:ea typeface="Songti SC"/>
                          <a:cs typeface="Songti SC"/>
                        </a:rPr>
                        <a:t>0.691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4A626A"/>
                      </a:solidFill>
                      <a:prstDash val="solid"/>
                    </a:lnR>
                    <a:lnB w="7620">
                      <a:solidFill>
                        <a:srgbClr val="4A626A"/>
                      </a:solidFill>
                      <a:prstDash val="solid"/>
                    </a:lnB>
                    <a:solidFill>
                      <a:srgbClr val="1731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F7F1E6"/>
                          </a:solidFill>
                          <a:latin typeface="Songti SC"/>
                          <a:ea typeface="Songti SC"/>
                          <a:cs typeface="Songti SC"/>
                        </a:rPr>
                        <a:t>+0.055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4A626A"/>
                      </a:solidFill>
                      <a:prstDash val="solid"/>
                    </a:lnR>
                    <a:lnB w="7620">
                      <a:solidFill>
                        <a:srgbClr val="4A626A"/>
                      </a:solidFill>
                      <a:prstDash val="solid"/>
                    </a:lnB>
                    <a:solidFill>
                      <a:srgbClr val="17313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F7F1E6"/>
                          </a:solidFill>
                          <a:latin typeface="Songti SC"/>
                          <a:ea typeface="Songti SC"/>
                          <a:cs typeface="Songti SC"/>
                        </a:rPr>
                        <a:t>无依据断言率</a:t>
                      </a:r>
                    </a:p>
                  </a:txBody>
                  <a:tcPr marL="95250" marR="95250" marT="47625" marB="47625">
                    <a:lnL w="7620">
                      <a:solidFill>
                        <a:srgbClr val="4A626A"/>
                      </a:solidFill>
                      <a:prstDash val="solid"/>
                    </a:lnL>
                    <a:lnR w="7620">
                      <a:solidFill>
                        <a:srgbClr val="4A626A"/>
                      </a:solidFill>
                      <a:prstDash val="solid"/>
                    </a:lnR>
                    <a:lnB w="7620">
                      <a:solidFill>
                        <a:srgbClr val="4A626A"/>
                      </a:solidFill>
                      <a:prstDash val="solid"/>
                    </a:lnB>
                    <a:solidFill>
                      <a:srgbClr val="1B37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F7F1E6"/>
                          </a:solidFill>
                          <a:latin typeface="Songti SC"/>
                          <a:ea typeface="Songti SC"/>
                          <a:cs typeface="Songti SC"/>
                        </a:rPr>
                        <a:t>0.026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4A626A"/>
                      </a:solidFill>
                      <a:prstDash val="solid"/>
                    </a:lnR>
                    <a:lnB w="7620">
                      <a:solidFill>
                        <a:srgbClr val="4A626A"/>
                      </a:solidFill>
                      <a:prstDash val="solid"/>
                    </a:lnB>
                    <a:solidFill>
                      <a:srgbClr val="1B37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F7F1E6"/>
                          </a:solidFill>
                          <a:latin typeface="Songti SC"/>
                          <a:ea typeface="Songti SC"/>
                          <a:cs typeface="Songti SC"/>
                        </a:rPr>
                        <a:t>0.043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4A626A"/>
                      </a:solidFill>
                      <a:prstDash val="solid"/>
                    </a:lnR>
                    <a:lnB w="7620">
                      <a:solidFill>
                        <a:srgbClr val="4A626A"/>
                      </a:solidFill>
                      <a:prstDash val="solid"/>
                    </a:lnB>
                    <a:solidFill>
                      <a:srgbClr val="1B37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F7F1E6"/>
                          </a:solidFill>
                          <a:latin typeface="Songti SC"/>
                          <a:ea typeface="Songti SC"/>
                          <a:cs typeface="Songti SC"/>
                        </a:rPr>
                        <a:t>更高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4A626A"/>
                      </a:solidFill>
                      <a:prstDash val="solid"/>
                    </a:lnR>
                    <a:lnB w="7620">
                      <a:solidFill>
                        <a:srgbClr val="4A626A"/>
                      </a:solidFill>
                      <a:prstDash val="solid"/>
                    </a:lnB>
                    <a:solidFill>
                      <a:srgbClr val="1B374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F7F1E6"/>
                          </a:solidFill>
                          <a:latin typeface="Songti SC"/>
                          <a:ea typeface="Songti SC"/>
                          <a:cs typeface="Songti SC"/>
                        </a:rPr>
                        <a:t>中位延迟</a:t>
                      </a:r>
                    </a:p>
                  </a:txBody>
                  <a:tcPr marL="95250" marR="95250" marT="47625" marB="47625">
                    <a:lnL w="7620">
                      <a:solidFill>
                        <a:srgbClr val="4A626A"/>
                      </a:solidFill>
                      <a:prstDash val="solid"/>
                    </a:lnL>
                    <a:lnR w="7620">
                      <a:solidFill>
                        <a:srgbClr val="4A626A"/>
                      </a:solidFill>
                      <a:prstDash val="solid"/>
                    </a:lnR>
                    <a:lnB w="7620">
                      <a:solidFill>
                        <a:srgbClr val="4A626A"/>
                      </a:solidFill>
                      <a:prstDash val="solid"/>
                    </a:lnB>
                    <a:solidFill>
                      <a:srgbClr val="1731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F7F1E6"/>
                          </a:solidFill>
                          <a:latin typeface="Songti SC"/>
                          <a:ea typeface="Songti SC"/>
                          <a:cs typeface="Songti SC"/>
                        </a:rPr>
                        <a:t>2.285 s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4A626A"/>
                      </a:solidFill>
                      <a:prstDash val="solid"/>
                    </a:lnR>
                    <a:lnB w="7620">
                      <a:solidFill>
                        <a:srgbClr val="4A626A"/>
                      </a:solidFill>
                      <a:prstDash val="solid"/>
                    </a:lnB>
                    <a:solidFill>
                      <a:srgbClr val="1731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F7F1E6"/>
                          </a:solidFill>
                          <a:latin typeface="Songti SC"/>
                          <a:ea typeface="Songti SC"/>
                          <a:cs typeface="Songti SC"/>
                        </a:rPr>
                        <a:t>2.688 s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4A626A"/>
                      </a:solidFill>
                      <a:prstDash val="solid"/>
                    </a:lnR>
                    <a:lnB w="7620">
                      <a:solidFill>
                        <a:srgbClr val="4A626A"/>
                      </a:solidFill>
                      <a:prstDash val="solid"/>
                    </a:lnB>
                    <a:solidFill>
                      <a:srgbClr val="1731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F7F1E6"/>
                          </a:solidFill>
                          <a:latin typeface="Songti SC"/>
                          <a:ea typeface="Songti SC"/>
                          <a:cs typeface="Songti SC"/>
                        </a:rPr>
                        <a:t>+0.403 s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4A626A"/>
                      </a:solidFill>
                      <a:prstDash val="solid"/>
                    </a:lnR>
                    <a:lnB w="7620">
                      <a:solidFill>
                        <a:srgbClr val="4A626A"/>
                      </a:solidFill>
                      <a:prstDash val="solid"/>
                    </a:lnB>
                    <a:solidFill>
                      <a:srgbClr val="17313A"/>
                    </a:solidFill>
                  </a:tcPr>
                </a:tc>
              </a:tr>
            </a:tbl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C2D7A77-2BED-4608-B7E6-EDCB05FC9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150495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425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425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425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425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425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425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425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425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425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425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425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pPr>
            <a:r>
              <a:rPr sz="1425" b="0" i="0">
                <a:solidFill>
                  <a:srgbClr val="B9C8CA"/>
                </a:solidFill>
                <a:latin typeface="Songti SC"/>
                <a:ea typeface="Songti SC"/>
                <a:cs typeface="Songti SC"/>
              </a:rPr>
              <a:t>B-A 配对事实覆盖差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AE7F1EE-E86F-4B45-A038-F4F60EBD5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1809750"/>
            <a:ext cx="342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52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52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52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52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52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52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52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52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52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52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52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pPr>
            <a:r>
              <a:rPr sz="5250" b="1" i="0">
                <a:solidFill>
                  <a:srgbClr val="C24E2A"/>
                </a:solidFill>
                <a:latin typeface="Songti SC"/>
                <a:ea typeface="Songti SC"/>
                <a:cs typeface="Songti SC"/>
              </a:rPr>
              <a:t>+0.157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D8458EC-7FFD-492C-B552-29CBA78DF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68605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425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425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425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425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425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425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425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425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425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425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425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pPr>
            <a:r>
              <a:rPr sz="1425" b="0" i="0">
                <a:solidFill>
                  <a:srgbClr val="B9C8CA"/>
                </a:solidFill>
                <a:latin typeface="Songti SC"/>
                <a:ea typeface="Songti SC"/>
                <a:cs typeface="Songti SC"/>
              </a:rPr>
              <a:t>95% 描述性 bootstrap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20C2435-98E0-4BE8-A155-A03917E2C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952750"/>
            <a:ext cx="342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950" b="1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950" b="1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950" b="1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950" b="1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950" b="1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950" b="1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950" b="1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950" b="1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950" b="1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950" b="1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950" b="1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pPr>
            <a:r>
              <a:rPr sz="1950" b="1" i="0">
                <a:solidFill>
                  <a:srgbClr val="F7F1E6"/>
                </a:solidFill>
                <a:latin typeface="Songti SC"/>
                <a:ea typeface="Songti SC"/>
                <a:cs typeface="Songti SC"/>
              </a:rPr>
              <a:t>[-0.122, 0.457]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01807FA-134D-4A7C-BE64-00178B96D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390900"/>
            <a:ext cx="3619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500" b="0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500" b="0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500" b="0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500" b="0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500" b="0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500" b="0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500" b="0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500" b="0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500" b="0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500" b="0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500" b="0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pPr>
            <a:r>
              <a:rPr sz="1500" b="0" i="0">
                <a:solidFill>
                  <a:srgbClr val="F7F1E6"/>
                </a:solidFill>
                <a:latin typeface="Songti SC"/>
                <a:ea typeface="Songti SC"/>
                <a:cs typeface="Songti SC"/>
              </a:rPr>
              <a:t>区间跨零 · B胜5 / A胜4 / 平6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9FE29A8-C71D-4CDE-BB98-73ED2E208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957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626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5856776-0605-4A07-9E2C-B4D20815F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24350"/>
            <a:ext cx="400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17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217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217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217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217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217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217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217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217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217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217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pPr>
            <a:r>
              <a:rPr sz="2175" b="1" i="0">
                <a:solidFill>
                  <a:srgbClr val="C24E2A"/>
                </a:solidFill>
                <a:latin typeface="Songti SC"/>
                <a:ea typeface="Songti SC"/>
                <a:cs typeface="Songti SC"/>
              </a:rPr>
              <a:t>正确弃答率 N/A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BFB5A15-0383-4E44-98DA-C77C4AD19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400550"/>
            <a:ext cx="3028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r">
              <a:defRPr sz="1050" b="0" i="0">
                <a:solidFill>
                  <a:srgbClr val="8FA6AB"/>
                </a:solidFill>
                <a:latin typeface="Songti SC"/>
                <a:ea typeface="Songti SC"/>
                <a:cs typeface="Songti SC"/>
              </a:defRPr>
            </a:defPPr>
            <a:lvl1pPr algn="r">
              <a:defRPr sz="1050" b="0" i="0">
                <a:solidFill>
                  <a:srgbClr val="8FA6AB"/>
                </a:solidFill>
                <a:latin typeface="Songti SC"/>
                <a:ea typeface="Songti SC"/>
                <a:cs typeface="Songti SC"/>
              </a:defRPr>
            </a:lvl1pPr>
            <a:lvl2pPr algn="r">
              <a:defRPr sz="1050" b="0" i="0">
                <a:solidFill>
                  <a:srgbClr val="8FA6AB"/>
                </a:solidFill>
                <a:latin typeface="Songti SC"/>
                <a:ea typeface="Songti SC"/>
                <a:cs typeface="Songti SC"/>
              </a:defRPr>
            </a:lvl2pPr>
            <a:lvl3pPr algn="r">
              <a:defRPr sz="1050" b="0" i="0">
                <a:solidFill>
                  <a:srgbClr val="8FA6AB"/>
                </a:solidFill>
                <a:latin typeface="Songti SC"/>
                <a:ea typeface="Songti SC"/>
                <a:cs typeface="Songti SC"/>
              </a:defRPr>
            </a:lvl3pPr>
            <a:lvl4pPr algn="r">
              <a:defRPr sz="1050" b="0" i="0">
                <a:solidFill>
                  <a:srgbClr val="8FA6AB"/>
                </a:solidFill>
                <a:latin typeface="Songti SC"/>
                <a:ea typeface="Songti SC"/>
                <a:cs typeface="Songti SC"/>
              </a:defRPr>
            </a:lvl4pPr>
            <a:lvl5pPr algn="r">
              <a:defRPr sz="1050" b="0" i="0">
                <a:solidFill>
                  <a:srgbClr val="8FA6AB"/>
                </a:solidFill>
                <a:latin typeface="Songti SC"/>
                <a:ea typeface="Songti SC"/>
                <a:cs typeface="Songti SC"/>
              </a:defRPr>
            </a:lvl5pPr>
            <a:lvl6pPr algn="r">
              <a:defRPr sz="1050" b="0" i="0">
                <a:solidFill>
                  <a:srgbClr val="8FA6AB"/>
                </a:solidFill>
                <a:latin typeface="Songti SC"/>
                <a:ea typeface="Songti SC"/>
                <a:cs typeface="Songti SC"/>
              </a:defRPr>
            </a:lvl6pPr>
            <a:lvl7pPr algn="r">
              <a:defRPr sz="1050" b="0" i="0">
                <a:solidFill>
                  <a:srgbClr val="8FA6AB"/>
                </a:solidFill>
                <a:latin typeface="Songti SC"/>
                <a:ea typeface="Songti SC"/>
                <a:cs typeface="Songti SC"/>
              </a:defRPr>
            </a:lvl7pPr>
            <a:lvl8pPr algn="r">
              <a:defRPr sz="1050" b="0" i="0">
                <a:solidFill>
                  <a:srgbClr val="8FA6AB"/>
                </a:solidFill>
                <a:latin typeface="Songti SC"/>
                <a:ea typeface="Songti SC"/>
                <a:cs typeface="Songti SC"/>
              </a:defRPr>
            </a:lvl8pPr>
            <a:lvl9pPr algn="r">
              <a:defRPr sz="1050" b="0" i="0">
                <a:solidFill>
                  <a:srgbClr val="8FA6AB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r">
              <a:defRPr sz="1050" b="0" i="0">
                <a:solidFill>
                  <a:srgbClr val="8FA6AB"/>
                </a:solidFill>
                <a:latin typeface="Songti SC"/>
                <a:ea typeface="Songti SC"/>
                <a:cs typeface="Songti SC"/>
              </a:defRPr>
            </a:pPr>
            <a:r>
              <a:rPr sz="1050" b="0" i="0">
                <a:solidFill>
                  <a:srgbClr val="8FA6AB"/>
                </a:solidFill>
                <a:latin typeface="Songti SC"/>
                <a:ea typeface="Songti SC"/>
                <a:cs typeface="Songti SC"/>
              </a:rPr>
              <a:t>P6 状态区 · 收尾后仅替换此处</a:t>
            </a:r>
          </a:p>
        </p:txBody>
      </p:sp>
      <p:sp>
        <p:nvSpPr>
          <p:cNvPr id="15" name="p6-status-update">
            <a:extLst xmlns:a="http://schemas.openxmlformats.org/drawingml/2006/main">
              <a:ext uri="{FF2B5EF4-FFF2-40B4-BE49-F238E27FC236}">
                <a16:creationId xmlns:a16="http://schemas.microsoft.com/office/drawing/2014/main" id="{2478D472-B845-4121-AA51-EA008BCBB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43450"/>
            <a:ext cx="10287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425" b="0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425" b="0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425" b="0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425" b="0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425" b="0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425" b="0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425" b="0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425" b="0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425" b="0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425" b="0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425" b="0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pPr>
            <a:r>
              <a:rPr sz="1425" b="0" i="0">
                <a:solidFill>
                  <a:srgbClr val="F7F1E6"/>
                </a:solidFill>
                <a:latin typeface="Songti SC"/>
                <a:ea typeface="Songti SC"/>
                <a:cs typeface="Songti SC"/>
              </a:rPr>
              <a:t>截至 2026-10-30 的 P6 收尾前快照：全池 86/92；已确认证据不足 0；无题目完成两遍完整确认。</a:t>
            </a:r>
          </a:p>
          <a:p xmlns:a="http://schemas.openxmlformats.org/drawingml/2006/main">
            <a:pPr algn="l">
              <a:defRPr sz="1425" b="0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pPr>
            <a:r>
              <a:rPr sz="1425" b="0" i="0">
                <a:solidFill>
                  <a:srgbClr val="F7F1E6"/>
                </a:solidFill>
                <a:latin typeface="Songti SC"/>
                <a:ea typeface="Songti SC"/>
                <a:cs typeface="Songti SC"/>
              </a:rPr>
              <a:t>48 个答案：32 ok / 15 empty / 1 error；1 个生产失败保留在队列；不是永久终稿。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9C45AB4-214E-4652-A100-25F39BD16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19750"/>
            <a:ext cx="666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0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20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20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20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20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20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20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20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20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20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20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pPr>
            <a:r>
              <a:rPr sz="2025" b="1" i="0">
                <a:solidFill>
                  <a:srgbClr val="C24E2A"/>
                </a:solidFill>
                <a:latin typeface="Songti SC"/>
                <a:ea typeface="Songti SC"/>
                <a:cs typeface="Songti SC"/>
              </a:rPr>
              <a:t>不宣称图谱显著胜出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8EA30BA-BA27-4672-A97E-97C0DD976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19800"/>
            <a:ext cx="1066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200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200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200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200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200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200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200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200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200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200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200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pPr>
            <a:r>
              <a:rPr sz="1200" b="0" i="0">
                <a:solidFill>
                  <a:srgbClr val="B9C8CA"/>
                </a:solidFill>
                <a:latin typeface="Songti SC"/>
                <a:ea typeface="Songti SC"/>
                <a:cs typeface="Songti SC"/>
              </a:rPr>
              <a:t>局限：单一 Flask · 模型银标 · 小样本 · 图扩展增加无依据断言 · 全池与第二小库以 P6 收尾状态为准</a:t>
            </a:r>
          </a:p>
        </p:txBody>
      </p:sp>
    </p:spTree>
    <p:extLst>
      <p:ext uri="{BB962C8B-B14F-4D97-AF65-F5344CB8AC3E}">
        <p14:creationId xmlns:p14="http://schemas.microsoft.com/office/powerpoint/2010/main" val="118149206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4F0E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9F3402B-2F48-475D-9EE5-76DF5A618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10287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复现、贡献与结论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3E3B265-84B5-4EEB-920C-6945604E5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04925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C4B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A914B73-103A-45A3-B7A1-3507D74DB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409575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10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EC7F135-7352-4A3F-A31D-D9A217DB7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基于 relore · Flask 冻结集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D319BDB-E2AD-449F-B78F-8662AA39C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5341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10 / 10</a:t>
            </a:r>
          </a:p>
        </p:txBody>
      </p:sp>
      <p:graphicFrame>
        <p:nvGraphicFrame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04531F0-39A3-4654-A20B-3CE032078924}"/>
              </a:ext>
            </a:extLst>
          </p:cNvPr>
          <p:cNvGraphicFramePr/>
          <p:nvPr/>
        </p:nvGraphicFramePr>
        <p:xfrm>
          <a:off xmlns:a="http://schemas.openxmlformats.org/drawingml/2006/main" x="685800" y="1466850"/>
          <a:ext xmlns:a="http://schemas.openxmlformats.org/drawingml/2006/main" cx="7239000" cy="37338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781050"/>
                <a:gridCol w="4457700"/>
                <a:gridCol w="2000250"/>
              </a:tblGrid>
              <a:tr h="419100"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  <a:latin typeface="Songti SC"/>
                          <a:ea typeface="Songti SC"/>
                          <a:cs typeface="Songti SC"/>
                        </a:rPr>
                        <a:t>角色</a:t>
                      </a:r>
                    </a:p>
                  </a:txBody>
                  <a:tcPr marL="95250" marR="95250" marT="47625" marB="47625">
                    <a:lnL w="7620">
                      <a:solidFill>
                        <a:srgbClr val="CEC4B4"/>
                      </a:solidFill>
                      <a:prstDash val="solid"/>
                    </a:lnL>
                    <a:lnR w="7620">
                      <a:solidFill>
                        <a:srgbClr val="CEC4B4"/>
                      </a:solidFill>
                      <a:prstDash val="solid"/>
                    </a:lnR>
                    <a:lnT w="7620">
                      <a:solidFill>
                        <a:srgbClr val="CEC4B4"/>
                      </a:solidFill>
                      <a:prstDash val="solid"/>
                    </a:lnT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172D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  <a:latin typeface="Songti SC"/>
                          <a:ea typeface="Songti SC"/>
                          <a:cs typeface="Songti SC"/>
                        </a:rPr>
                        <a:t>主要贡献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CEC4B4"/>
                      </a:solidFill>
                      <a:prstDash val="solid"/>
                    </a:lnR>
                    <a:lnT w="7620">
                      <a:solidFill>
                        <a:srgbClr val="CEC4B4"/>
                      </a:solidFill>
                      <a:prstDash val="solid"/>
                    </a:lnT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172D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  <a:latin typeface="Songti SC"/>
                          <a:ea typeface="Songti SC"/>
                          <a:cs typeface="Songti SC"/>
                        </a:rPr>
                        <a:t>姓名 / 学号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CEC4B4"/>
                      </a:solidFill>
                      <a:prstDash val="solid"/>
                    </a:lnR>
                    <a:lnT w="7620">
                      <a:solidFill>
                        <a:srgbClr val="CEC4B4"/>
                      </a:solidFill>
                      <a:prstDash val="solid"/>
                    </a:lnT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172D36"/>
                    </a:solidFill>
                  </a:tcPr>
                </a:tc>
              </a:tr>
              <a:tr h="552450">
                <a:tc>
                  <a:txBody>
                    <a:bodyPr/>
                    <a:lstStyle/>
                    <a:p>
                      <a:r>
                        <a:rPr sz="1238" b="1">
                          <a:solidFill>
                            <a:srgbClr val="172D36"/>
                          </a:solidFill>
                          <a:latin typeface="Songti SC"/>
                          <a:ea typeface="Songti SC"/>
                          <a:cs typeface="Songti SC"/>
                        </a:rPr>
                        <a:t>P1</a:t>
                      </a:r>
                    </a:p>
                  </a:txBody>
                  <a:tcPr marL="95250" marR="95250" marT="47625" marB="47625">
                    <a:lnL w="7620">
                      <a:solidFill>
                        <a:srgbClr val="CEC4B4"/>
                      </a:solidFill>
                      <a:prstDash val="solid"/>
                    </a:lnL>
                    <a:lnR w="7620">
                      <a:solidFill>
                        <a:srgbClr val="CEC4B4"/>
                      </a:solidFill>
                      <a:prstDash val="solid"/>
                    </a:lnR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F2EC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38" b="0">
                          <a:solidFill>
                            <a:srgbClr val="172D36"/>
                          </a:solidFill>
                          <a:latin typeface="Songti SC"/>
                          <a:ea typeface="Songti SC"/>
                          <a:cs typeface="Songti SC"/>
                        </a:rPr>
                        <a:t>URL 编排、冻结与 IO、总集成、跨平台复现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CEC4B4"/>
                      </a:solidFill>
                      <a:prstDash val="solid"/>
                    </a:lnR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F2EC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38" b="0">
                          <a:solidFill>
                            <a:srgbClr val="172D36"/>
                          </a:solidFill>
                          <a:latin typeface="Songti SC"/>
                          <a:ea typeface="Songti SC"/>
                          <a:cs typeface="Songti SC"/>
                        </a:rPr>
                        <a:t>待本人补充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CEC4B4"/>
                      </a:solidFill>
                      <a:prstDash val="solid"/>
                    </a:lnR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F2ECE2"/>
                    </a:solidFill>
                  </a:tcPr>
                </a:tc>
              </a:tr>
              <a:tr h="552450">
                <a:tc>
                  <a:txBody>
                    <a:bodyPr/>
                    <a:lstStyle/>
                    <a:p>
                      <a:r>
                        <a:rPr sz="1238" b="1">
                          <a:solidFill>
                            <a:srgbClr val="172D36"/>
                          </a:solidFill>
                          <a:latin typeface="Songti SC"/>
                          <a:ea typeface="Songti SC"/>
                          <a:cs typeface="Songti SC"/>
                        </a:rPr>
                        <a:t>P2</a:t>
                      </a:r>
                    </a:p>
                  </a:txBody>
                  <a:tcPr marL="95250" marR="95250" marT="47625" marB="47625">
                    <a:lnL w="7620">
                      <a:solidFill>
                        <a:srgbClr val="CEC4B4"/>
                      </a:solidFill>
                      <a:prstDash val="solid"/>
                    </a:lnL>
                    <a:lnR w="7620">
                      <a:solidFill>
                        <a:srgbClr val="CEC4B4"/>
                      </a:solidFill>
                      <a:prstDash val="solid"/>
                    </a:lnR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FBF8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38" b="0">
                          <a:solidFill>
                            <a:srgbClr val="172D36"/>
                          </a:solidFill>
                          <a:latin typeface="Songti SC"/>
                          <a:ea typeface="Songti SC"/>
                          <a:cs typeface="Songti SC"/>
                        </a:rPr>
                        <a:t>Neo4j 导入、同源检索、QueryResult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CEC4B4"/>
                      </a:solidFill>
                      <a:prstDash val="solid"/>
                    </a:lnR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FBF8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38" b="0">
                          <a:solidFill>
                            <a:srgbClr val="172D36"/>
                          </a:solidFill>
                          <a:latin typeface="Songti SC"/>
                          <a:ea typeface="Songti SC"/>
                          <a:cs typeface="Songti SC"/>
                        </a:rPr>
                        <a:t>待本人补充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CEC4B4"/>
                      </a:solidFill>
                      <a:prstDash val="solid"/>
                    </a:lnR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FBF8F1"/>
                    </a:solidFill>
                  </a:tcPr>
                </a:tc>
              </a:tr>
              <a:tr h="552450">
                <a:tc>
                  <a:txBody>
                    <a:bodyPr/>
                    <a:lstStyle/>
                    <a:p>
                      <a:r>
                        <a:rPr sz="1238" b="1">
                          <a:solidFill>
                            <a:srgbClr val="172D36"/>
                          </a:solidFill>
                          <a:latin typeface="Songti SC"/>
                          <a:ea typeface="Songti SC"/>
                          <a:cs typeface="Songti SC"/>
                        </a:rPr>
                        <a:t>P3</a:t>
                      </a:r>
                    </a:p>
                  </a:txBody>
                  <a:tcPr marL="95250" marR="95250" marT="47625" marB="47625">
                    <a:lnL w="7620">
                      <a:solidFill>
                        <a:srgbClr val="CEC4B4"/>
                      </a:solidFill>
                      <a:prstDash val="solid"/>
                    </a:lnL>
                    <a:lnR w="7620">
                      <a:solidFill>
                        <a:srgbClr val="CEC4B4"/>
                      </a:solidFill>
                      <a:prstDash val="solid"/>
                    </a:lnR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F2EC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38" b="0">
                          <a:solidFill>
                            <a:srgbClr val="172D36"/>
                          </a:solidFill>
                          <a:latin typeface="Songti SC"/>
                          <a:ea typeface="Songti SC"/>
                          <a:cs typeface="Songti SC"/>
                        </a:rPr>
                        <a:t>git / AST 提交、文件与版本事实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CEC4B4"/>
                      </a:solidFill>
                      <a:prstDash val="solid"/>
                    </a:lnR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F2EC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38" b="0">
                          <a:solidFill>
                            <a:srgbClr val="172D36"/>
                          </a:solidFill>
                          <a:latin typeface="Songti SC"/>
                          <a:ea typeface="Songti SC"/>
                          <a:cs typeface="Songti SC"/>
                        </a:rPr>
                        <a:t>待本人补充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CEC4B4"/>
                      </a:solidFill>
                      <a:prstDash val="solid"/>
                    </a:lnR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F2ECE2"/>
                    </a:solidFill>
                  </a:tcPr>
                </a:tc>
              </a:tr>
              <a:tr h="552450">
                <a:tc>
                  <a:txBody>
                    <a:bodyPr/>
                    <a:lstStyle/>
                    <a:p>
                      <a:r>
                        <a:rPr sz="1238" b="1">
                          <a:solidFill>
                            <a:srgbClr val="172D36"/>
                          </a:solidFill>
                          <a:latin typeface="Songti SC"/>
                          <a:ea typeface="Songti SC"/>
                          <a:cs typeface="Songti SC"/>
                        </a:rPr>
                        <a:t>P4</a:t>
                      </a:r>
                    </a:p>
                  </a:txBody>
                  <a:tcPr marL="95250" marR="95250" marT="47625" marB="47625">
                    <a:lnL w="7620">
                      <a:solidFill>
                        <a:srgbClr val="CEC4B4"/>
                      </a:solidFill>
                      <a:prstDash val="solid"/>
                    </a:lnL>
                    <a:lnR w="7620">
                      <a:solidFill>
                        <a:srgbClr val="CEC4B4"/>
                      </a:solidFill>
                      <a:prstDash val="solid"/>
                    </a:lnR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FBF8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38" b="0">
                          <a:solidFill>
                            <a:srgbClr val="172D36"/>
                          </a:solidFill>
                          <a:latin typeface="Songti SC"/>
                          <a:ea typeface="Songti SC"/>
                          <a:cs typeface="Songti SC"/>
                        </a:rPr>
                        <a:t>relore 移植、采集器、抽取、统一回答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CEC4B4"/>
                      </a:solidFill>
                      <a:prstDash val="solid"/>
                    </a:lnR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FBF8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38" b="0">
                          <a:solidFill>
                            <a:srgbClr val="172D36"/>
                          </a:solidFill>
                          <a:latin typeface="Songti SC"/>
                          <a:ea typeface="Songti SC"/>
                          <a:cs typeface="Songti SC"/>
                        </a:rPr>
                        <a:t>待本人补充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CEC4B4"/>
                      </a:solidFill>
                      <a:prstDash val="solid"/>
                    </a:lnR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FBF8F1"/>
                    </a:solidFill>
                  </a:tcPr>
                </a:tc>
              </a:tr>
              <a:tr h="552450">
                <a:tc>
                  <a:txBody>
                    <a:bodyPr/>
                    <a:lstStyle/>
                    <a:p>
                      <a:r>
                        <a:rPr sz="1238" b="1">
                          <a:solidFill>
                            <a:srgbClr val="172D36"/>
                          </a:solidFill>
                          <a:latin typeface="Songti SC"/>
                          <a:ea typeface="Songti SC"/>
                          <a:cs typeface="Songti SC"/>
                        </a:rPr>
                        <a:t>P5</a:t>
                      </a:r>
                    </a:p>
                  </a:txBody>
                  <a:tcPr marL="95250" marR="95250" marT="47625" marB="47625">
                    <a:lnL w="7620">
                      <a:solidFill>
                        <a:srgbClr val="CEC4B4"/>
                      </a:solidFill>
                      <a:prstDash val="solid"/>
                    </a:lnL>
                    <a:lnR w="7620">
                      <a:solidFill>
                        <a:srgbClr val="CEC4B4"/>
                      </a:solidFill>
                      <a:prstDash val="solid"/>
                    </a:lnR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F2EC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38" b="0">
                          <a:solidFill>
                            <a:srgbClr val="172D36"/>
                          </a:solidFill>
                          <a:latin typeface="Songti SC"/>
                          <a:ea typeface="Songti SC"/>
                          <a:cs typeface="Songti SC"/>
                        </a:rPr>
                        <a:t>Streamlit 原型、证据展示、期末材料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CEC4B4"/>
                      </a:solidFill>
                      <a:prstDash val="solid"/>
                    </a:lnR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F2EC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38" b="0">
                          <a:solidFill>
                            <a:srgbClr val="172D36"/>
                          </a:solidFill>
                          <a:latin typeface="Songti SC"/>
                          <a:ea typeface="Songti SC"/>
                          <a:cs typeface="Songti SC"/>
                        </a:rPr>
                        <a:t>待本人补充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CEC4B4"/>
                      </a:solidFill>
                      <a:prstDash val="solid"/>
                    </a:lnR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F2ECE2"/>
                    </a:solidFill>
                  </a:tcPr>
                </a:tc>
              </a:tr>
              <a:tr h="552450">
                <a:tc>
                  <a:txBody>
                    <a:bodyPr/>
                    <a:lstStyle/>
                    <a:p>
                      <a:r>
                        <a:rPr sz="1238" b="1">
                          <a:solidFill>
                            <a:srgbClr val="172D36"/>
                          </a:solidFill>
                          <a:latin typeface="Songti SC"/>
                          <a:ea typeface="Songti SC"/>
                          <a:cs typeface="Songti SC"/>
                        </a:rPr>
                        <a:t>P6</a:t>
                      </a:r>
                    </a:p>
                  </a:txBody>
                  <a:tcPr marL="95250" marR="95250" marT="47625" marB="47625">
                    <a:lnL w="7620">
                      <a:solidFill>
                        <a:srgbClr val="CEC4B4"/>
                      </a:solidFill>
                      <a:prstDash val="solid"/>
                    </a:lnL>
                    <a:lnR w="7620">
                      <a:solidFill>
                        <a:srgbClr val="CEC4B4"/>
                      </a:solidFill>
                      <a:prstDash val="solid"/>
                    </a:lnR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FBF8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38" b="0">
                          <a:solidFill>
                            <a:srgbClr val="172D36"/>
                          </a:solidFill>
                          <a:latin typeface="Songti SC"/>
                          <a:ea typeface="Songti SC"/>
                          <a:cs typeface="Songti SC"/>
                        </a:rPr>
                        <a:t>独立参考、A/B 隔离、评分与统计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CEC4B4"/>
                      </a:solidFill>
                      <a:prstDash val="solid"/>
                    </a:lnR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FBF8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38" b="0">
                          <a:solidFill>
                            <a:srgbClr val="172D36"/>
                          </a:solidFill>
                          <a:latin typeface="Songti SC"/>
                          <a:ea typeface="Songti SC"/>
                          <a:cs typeface="Songti SC"/>
                        </a:rPr>
                        <a:t>待本人补充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CEC4B4"/>
                      </a:solidFill>
                      <a:prstDash val="solid"/>
                    </a:lnR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FBF8F1"/>
                    </a:solidFill>
                  </a:tcPr>
                </a:tc>
              </a:tr>
            </a:tbl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B88FC0E-F773-45C4-8437-CF280AB81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466850"/>
            <a:ext cx="32194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3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23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23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23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23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23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23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23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23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23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23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pPr>
            <a:r>
              <a:rPr sz="2325" b="1" i="0">
                <a:solidFill>
                  <a:srgbClr val="C24E2A"/>
                </a:solidFill>
                <a:latin typeface="Songti SC"/>
                <a:ea typeface="Songti SC"/>
                <a:cs typeface="Songti SC"/>
              </a:rPr>
              <a:t>结论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1FB6484-31F0-44C3-BF28-71FF53148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971675"/>
            <a:ext cx="114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5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5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5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5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5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5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5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5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5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5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5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pPr>
            <a:r>
              <a:rPr sz="1500" b="1" i="0">
                <a:solidFill>
                  <a:srgbClr val="2F6E69"/>
                </a:solidFill>
                <a:latin typeface="Songti SC"/>
                <a:ea typeface="Songti SC"/>
                <a:cs typeface="Songti SC"/>
              </a:rPr>
              <a:t>可运行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5FE9B14-4188-45FE-8C86-6518D87EB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247900"/>
            <a:ext cx="32194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URL → 采集 → 抽取 → 图 → 问答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41AF3D5-2A63-4757-B5ED-9B8837454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800350"/>
            <a:ext cx="114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5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5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5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5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5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5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5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5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5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5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5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pPr>
            <a:r>
              <a:rPr sz="1500" b="1" i="0">
                <a:solidFill>
                  <a:srgbClr val="2F6E69"/>
                </a:solidFill>
                <a:latin typeface="Songti SC"/>
                <a:ea typeface="Songti SC"/>
                <a:cs typeface="Songti SC"/>
              </a:rPr>
              <a:t>可追溯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93F116B-87ED-4CC6-A155-AF49882EE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076575"/>
            <a:ext cx="32194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claim → evidence → hash → 位置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DE7BF6A-8AE8-4B74-94FA-633B01F57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629025"/>
            <a:ext cx="114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5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5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5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5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5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5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5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5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5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5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5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pPr>
            <a:r>
              <a:rPr sz="1500" b="1" i="0">
                <a:solidFill>
                  <a:srgbClr val="2F6E69"/>
                </a:solidFill>
                <a:latin typeface="Songti SC"/>
                <a:ea typeface="Songti SC"/>
                <a:cs typeface="Songti SC"/>
              </a:rPr>
              <a:t>可复现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2778F81-60CD-483B-8163-21DABCAE5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905250"/>
            <a:ext cx="3219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冻结包与统计代码；在线重跑需本人 API 与预算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B54E058-91EA-4506-B8A0-44B15A940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591050"/>
            <a:ext cx="32194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C4B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F67535E-A83B-4F71-938C-F92AD3B8C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762500"/>
            <a:ext cx="3219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50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50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50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50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50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50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50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50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50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50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50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pPr>
            <a:r>
              <a:rPr sz="1500" b="1" i="0">
                <a:solidFill>
                  <a:srgbClr val="C24E2A"/>
                </a:solidFill>
                <a:latin typeface="Songti SC"/>
                <a:ea typeface="Songti SC"/>
                <a:cs typeface="Songti SC"/>
              </a:rPr>
              <a:t>仍未成立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4BEB56A-509A-42E5-BB9D-6C9816BE3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5048250"/>
            <a:ext cx="3219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图谱收益、正确弃答率、跨仓库泛化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4A52D02-4748-4847-AB65-C269B4E67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81650"/>
            <a:ext cx="7239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下一步：全池两遍核验、第二小库、Windows / PowerPoint 实机、成员信息。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3ECD7C2-8252-476E-BE8D-51C0424F5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5676900"/>
            <a:ext cx="32194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UI/归档 21 项通过 · ruff 通过 · 成员姓名、学号与正式互评待本人补充。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9986D79-CBB6-43F4-876E-7AEC0B8A2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0"/>
            <a:ext cx="1066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P4 前期独立调研、总体方案、架构、协作框架、探索性试跑与采集器移植保留原贡献归属。</a:t>
            </a:r>
          </a:p>
        </p:txBody>
      </p:sp>
    </p:spTree>
    <p:extLst>
      <p:ext uri="{BB962C8B-B14F-4D97-AF65-F5344CB8AC3E}">
        <p14:creationId xmlns:p14="http://schemas.microsoft.com/office/powerpoint/2010/main" val="135910857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2026-10-30T07:44:12.3000000Z</dcterms:created>
  <dcterms:modified xsi:type="dcterms:W3CDTF">2026-10-30T07:44:12.3000000Z</dcterms:modified>
</coreProperties>
</file>