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28ac078a074bce" /><Relationship Type="http://schemas.openxmlformats.org/officeDocument/2006/relationships/extended-properties" Target="/docProps/app.xml" Id="R01426edc9b3148f9" /><Relationship Type="http://schemas.openxmlformats.org/officeDocument/2006/relationships/officeDocument" Target="/ppt/presentation.xml" Id="R71979b1f7ea84c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67597d745e454b"/>
  </p:sldMasterIdLst>
  <p:notesMasterIdLst>
    <p:notesMasterId xmlns:r="http://schemas.openxmlformats.org/officeDocument/2006/relationships" r:id="R5b047af2b6d347e8"/>
  </p:notesMasterIdLst>
  <p:sldIdLst>
    <p:sldId xmlns:r="http://schemas.openxmlformats.org/officeDocument/2006/relationships" id="256" r:id="R6b0e308c0fae4828"/>
    <p:sldId xmlns:r="http://schemas.openxmlformats.org/officeDocument/2006/relationships" id="257" r:id="Rd7d12c8d33b8411a"/>
    <p:sldId xmlns:r="http://schemas.openxmlformats.org/officeDocument/2006/relationships" id="258" r:id="R1a01b8e1f40e49af"/>
    <p:sldId xmlns:r="http://schemas.openxmlformats.org/officeDocument/2006/relationships" id="259" r:id="R08729ad4c8df4634"/>
    <p:sldId xmlns:r="http://schemas.openxmlformats.org/officeDocument/2006/relationships" id="260" r:id="Rc31a3a765e3d4c90"/>
    <p:sldId xmlns:r="http://schemas.openxmlformats.org/officeDocument/2006/relationships" id="261" r:id="Rdc8cd94608c34848"/>
    <p:sldId xmlns:r="http://schemas.openxmlformats.org/officeDocument/2006/relationships" id="262" r:id="R4f1aa1840fca48aa"/>
    <p:sldId xmlns:r="http://schemas.openxmlformats.org/officeDocument/2006/relationships" id="263" r:id="R6ec32f262ac94b87"/>
    <p:sldId xmlns:r="http://schemas.openxmlformats.org/officeDocument/2006/relationships" id="264" r:id="R47faa14b84de482b"/>
    <p:sldId xmlns:r="http://schemas.openxmlformats.org/officeDocument/2006/relationships" id="265" r:id="Rd467b2901329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2548eced6b41d3" /><Relationship Type="http://schemas.openxmlformats.org/officeDocument/2006/relationships/slideMaster" Target="/ppt/slideMasters/slideMaster1.xml" Id="R3b67597d745e454b" /><Relationship Type="http://schemas.openxmlformats.org/officeDocument/2006/relationships/notesMaster" Target="/ppt/notesMasters/notesMaster1.xml" Id="R5b047af2b6d347e8" /><Relationship Type="http://schemas.openxmlformats.org/officeDocument/2006/relationships/presProps" Target="/ppt/presProps.xml" Id="R03ed11f786204200" /><Relationship Type="http://schemas.openxmlformats.org/officeDocument/2006/relationships/tableStyles" Target="/ppt/tableStyles.xml" Id="Rbe79c7fe734a410f" /><Relationship Type="http://schemas.openxmlformats.org/officeDocument/2006/relationships/slide" Target="/ppt/slides/slide1.xml" Id="R6b0e308c0fae4828" /><Relationship Type="http://schemas.openxmlformats.org/officeDocument/2006/relationships/slide" Target="/ppt/slides/slide2.xml" Id="Rd7d12c8d33b8411a" /><Relationship Type="http://schemas.openxmlformats.org/officeDocument/2006/relationships/slide" Target="/ppt/slides/slide3.xml" Id="R1a01b8e1f40e49af" /><Relationship Type="http://schemas.openxmlformats.org/officeDocument/2006/relationships/slide" Target="/ppt/slides/slide4.xml" Id="R08729ad4c8df4634" /><Relationship Type="http://schemas.openxmlformats.org/officeDocument/2006/relationships/slide" Target="/ppt/slides/slide5.xml" Id="Rc31a3a765e3d4c90" /><Relationship Type="http://schemas.openxmlformats.org/officeDocument/2006/relationships/slide" Target="/ppt/slides/slide6.xml" Id="Rdc8cd94608c34848" /><Relationship Type="http://schemas.openxmlformats.org/officeDocument/2006/relationships/slide" Target="/ppt/slides/slide7.xml" Id="R4f1aa1840fca48aa" /><Relationship Type="http://schemas.openxmlformats.org/officeDocument/2006/relationships/slide" Target="/ppt/slides/slide8.xml" Id="R6ec32f262ac94b87" /><Relationship Type="http://schemas.openxmlformats.org/officeDocument/2006/relationships/slide" Target="/ppt/slides/slide9.xml" Id="R47faa14b84de482b" /><Relationship Type="http://schemas.openxmlformats.org/officeDocument/2006/relationships/slide" Target="/ppt/slides/slide10.xml" Id="Rd467b2901329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9735d7e6e745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e2122473244e9f" /><Relationship Type="http://schemas.openxmlformats.org/officeDocument/2006/relationships/notesMaster" Target="/ppt/notesMasters/notesMaster1.xml" Id="R6a3531d8d4b3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59262b22434cdb" /><Relationship Type="http://schemas.openxmlformats.org/officeDocument/2006/relationships/notesMaster" Target="/ppt/notesMasters/notesMaster1.xml" Id="Ra83c16f1c34e44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43f31f0fe348b6" /><Relationship Type="http://schemas.openxmlformats.org/officeDocument/2006/relationships/notesMaster" Target="/ppt/notesMasters/notesMaster1.xml" Id="Rfe69fff329704e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66d7aeec94636" /><Relationship Type="http://schemas.openxmlformats.org/officeDocument/2006/relationships/notesMaster" Target="/ppt/notesMasters/notesMaster1.xml" Id="Rb822f95c32ce4a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321204429e46c9" /><Relationship Type="http://schemas.openxmlformats.org/officeDocument/2006/relationships/notesMaster" Target="/ppt/notesMasters/notesMaster1.xml" Id="R65088d7bd08b4e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fffe7cde684c61" /><Relationship Type="http://schemas.openxmlformats.org/officeDocument/2006/relationships/notesMaster" Target="/ppt/notesMasters/notesMaster1.xml" Id="R8fa255ab3df347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f9d8a282bb4b0e" /><Relationship Type="http://schemas.openxmlformats.org/officeDocument/2006/relationships/notesMaster" Target="/ppt/notesMasters/notesMaster1.xml" Id="R2fd7c546b5534d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c7036c29c44a6c" /><Relationship Type="http://schemas.openxmlformats.org/officeDocument/2006/relationships/notesMaster" Target="/ppt/notesMasters/notesMaster1.xml" Id="R4e0c2953320b43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756fdb4bbc40d4" /><Relationship Type="http://schemas.openxmlformats.org/officeDocument/2006/relationships/notesMaster" Target="/ppt/notesMasters/notesMaster1.xml" Id="Rd5a56db22c1441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c4fb4e6d784fce" /><Relationship Type="http://schemas.openxmlformats.org/officeDocument/2006/relationships/notesMaster" Target="/ppt/notesMasters/notesMaster1.xml" Id="R63bad34d8c7043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建议约40秒。开场只讲问题：当前代码能说明做了什么，却常常不能说明为什么这样改。项目输入一个公开 GitHub Python 仓库 URL，程序自动采集有限历史、抽取决定和理由、建立图与检索，再用统一回答器返回带原文的 claims。Flask 是主要实验对象，换仓库需要重新采集，不能复用 Flask 事实。材料来源：evaluation/results/formal_summary.json、reports/technical_report.md、demo/replay/flask-public-20261030.json。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建议约60秒。研究问题分两层。RQ1看知识抽取：不是只生成一段总结，而是输出原子 Decision，包含主体、动作、状态、结论和明示理由，每条都有冻结原文证据。RQ2看图的价值：A组用共同检索，B组在同一检索种子上扩展图路径，两组同来源、同模型、同预算。边界必须说清：有限近期采样、不执行目标仓库代码、不训练基础模型，参考是模型银标而不是人工金标。来源：reports/technical_report.md第1、3、5章；evaluation/results/protocol_freez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建议约80秒。正常用户只输入 URL。P1 负责发现、采集、统一作业和恢复；relore 提供讨论采集与检索底座；P3 静态读取官方 git 和源码；P4 调用 DeepSeek 抽取决定和理由；P1 校验证据与端点，P2 建图并提供 QueryResult；P4 统一回答器生成 claims，P5 只展示。六阶段分别是 discover、collect、code、extract、validate、index_graph。页面刷新只读取同一 job，暂停可 resume，不重新采集已完成阶段。来源：docs/public_interfaces.md、docs/collector.md、docs/code.md、docs/graph_query.md。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建议约100秒。Schema 在早期 Project、Issue、PullRequest、Commit、File、Release 和 Decision 之外，按课程基础功能加入 P3 的 Developer 与 Function。File 是特定提交下的文件快照，同路径不同 SHA 不合并。Evidence 用 source_id、start、end、quote 表示，程序要求冻结文本切片与 quote 完全相等。P3 增量只读重放得到 18 个 Developer、384 个 Function、20 条 Authored、4 条 Merged、384 条 Defines。方向必须说准：Authored 和 Merged 都是 Developer 指向 PullRequest；Defines 是 File 指向 Function。PR 到 Commit 仍沿用 P1 的 MergedAs，P3 不生成 Developer 到 Commit。上述数字是新增契约在新数据版本上的真实冻结只读重放，不是向旧 1.4.1 生产图原地补写。ClaimsToClose 只是文本声明，Closes 需要官方关闭事件；MentionsPR 只说明 Release notes 提及，ReachableIn 才表示 git 可达；Decision 状态也不等于功能已经修复。来源：deliveries/P3/2026-10-30/developer_function_handoff.md；deliveries/P3/2026-10-30/developer_function_validation.json；docs/code.md；reports/technical_report.md第2章；01_统一执行契约.md C5–C6。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建议约70秒。这是同一个真实 Flask URL 作业：369 条冻结来源、40 个完整讨论、24 个文件快照，构建后得到 133 个业务实体、183 条关系和 333 条证据，其中 61 个 Decision 已包含在实体数里，不能重复加。时间范围是 2019-05-10 到 2026-10-27。profile 上限是 40 个讨论单元、24 个文件快照、3 个 Release 和 300 次请求。页面同时显示 584 项覆盖缺口或限制，这些是范围与解析边界，不是 584 个事实错误。来源：demo/replay/flask-public-20261030.json 的 job 对象；evaluation/results/source_only_freeze.json；docs/p5/screenshots/flask-ready-coverage-20261030.png。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建议约100秒。这条固定链是 PR #6096（lkk7→davidism）→ 05e9c6b → src/flask/testing.py → flask.testing._get_werkzeug_version，来自新数据版本的冻结只读重放，不是靠同号或共现拼接。PR #6096 的顶层 user 字段证明 lkk7 到 PullRequest 的 Authored，merged_by 字段证明 davidism 到同一 PullRequest 的 Merged；两条边都由 P3 生成。PR 到 Commit 05e9c6b 的 MergedAs 仍由 P1 提供，P3 只校验下游。Commit 到 src/flask/testing.py 是同快照的 Touches，File 到 flask.testing._get_werkzeug_version 是 AST 产生的 Defines；函数签名证据是 [3179,3214)，函数位于第 100 到 106 行。这条链刻意不生成 Developer 到 Commit，也没有 commit-author 关系；Developer 只来自 PR API 的 user 和 merged_by。FlaskClient 是 ClassDef，不能冒充 Function。该结果的网络请求和模型请求均为 0，不是旧生产图原地补写。来源：deliveries/P3/2026-10-30/developer_function_validation.json；deliveries/P3/2026-10-30/developer_function_handoff.md；docs/code.md。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建议约90秒。真实问题问的是 FlaskClient.session_transaction 的职责。页面返回 6 条 claims，并逐条链接到证据 32 到 37。左边抽取了其中 4 条关键内容：它是上下文管理器，离开 with 后保存会话；通过临时请求上下文和 Cookie 打开会话；null session 直接返回，否则 save_session；最后用 Set-Cookie 更新客户端 Cookie。右边是证据 36 的真实页面，显示冻结源码、Unicode 区间 [5886,6057)、SourceDocument 编号和 dataset 版本。页面不另写摘要，按原顺序展示所有 claims。来源：demo/replay/flask-public-20261030.json；docs/p5/screenshots/flask-architecture-source-20261030.png；docs/p5/README.md。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建议约80秒。正式抽取在 30 个完整测试讨论单元上得到 TP 25、FP 19、FN 1，Precision 0.568、Recall 0.962、F1 0.714。参考中 15 条明确理由有 13 条被完整保留，覆盖 0.867。开发集 F1 0.690，理由 9/11。高召回说明大部分银标决定被找到，低精度说明还有大量预测与银标不一致。FP 不能全部解释成人工确认的事实错误，因为银标可能有遗漏；但差距真实存在，必须和结果一起报告。来源：evaluation/results/formal_summary.json 的 extraction 字段；evaluation/results/extraction_summary.json。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建议约100秒。20 道测试题上，A 组事实覆盖 0.600、证据组召回 0.636、无依据断言率 0.026；B 组分别是 0.740、0.691 和 0.043。B-A 配对事实覆盖差是 0.157，但配对胜负为 B 胜 5、A 胜 4、平 6，固定种子 95% 描述性 bootstrap 区间是 [-0.122,0.457]，跨零，因此不能宣称图扩展有显著收益。P6 最终公开结果为全池 92/92；6 道候选题均完成两遍完整核验，确认证据不足为 0。正确弃答率仍为 N/A，但原因是分子和合格分母都为 0，表示没有确认不足题，不再表示核验未完成。48 个 A/B 答案仍完整保留为 32 ok、15 empty、1 error，不能把空回答改写成正确弃答。第二小库 pallets/itsdangerous 得到 347 来源、30 完整讨论、82 实体、78 关系和 180 证据；job 仍为 partial 并保留记录缺口，但 validate、graph、retrieval 均 ready。依赖查询返回 50 条路径、25 条证据和 5 条 claims，所有 cited evidence、原文引文和来源哈希复核通过。共享账本保守累计 9.465795 元，剩余 10.374205 元。第 9 页下方 p6-status-update 是唯一 P6 状态区，数据来自公开提交 78eaa07。真实残余仍是单一 Flask、模型银标、小样本、图扩展增加无依据断言、Neo4j 未现场重连、Windows 与 PowerPoint 实机未验证。来源：feat/p6-formal-results 78eaa07 的 evaluation/results/formal_summary.json、final_acceptance.json、second_repo_acceptance.json 和 P6 handoff。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建议约40秒。最后一页把已完成结果和不能外推的边界分开。系统已经完成真实 Flask URL 到采集、抽取、建图、检索和带出处问答的闭环；P6 还完成了 pallets/itsdangerous 的第二小库迁移检查，得到可核对的依赖查询答案。冻结包可以复现，在线重跑需要使用者自己的 API 与预算。结论是系统可运行、可追溯、可复现，但图谱收益没有在本次小样本中显著成立，正确弃答率因合格分母为 0 而保持 N/A，不能解释为核验失败。仍未外推的是一般图收益、任意仓库适用性；当前真实残余包括 Neo4j 在最终审计时未能现场重连、Windows 与 PowerPoint 原生检查未完成。六角色分工见表，姓名、学号和正式互评全部保留待本人补充，不虚构。P4 前期独立调研、方案、架构、协作框架、试跑和采集器移植保留原归属。来源：reports/technical_report.md第8–9章；feat/p6-formal-results 78eaa07 的 final_acceptance.json 与 P6 handoff；deliveries/P1/2026-10-30/handoff.md；deliveries/P4/2026-10-27/handoff.md；coordination/STATUS_P5.md。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36ca5408b346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0f824bfd145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5b0ac497ea4a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9a45c6d5e45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5bbae318df46e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6cf77a641949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C428A1-1C7D-4667-98D9-17AC389B4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25AB974-4FDD-490F-A7AB-9FA13FCA8B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8A04146-8E30-4AD2-A54E-D9DE777880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A77AE2-A747-4256-A1C3-9D789C2AAC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2EA308-0056-412A-B04D-2B5B5EEE47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DEDD542-A1E1-42E4-8DF6-900956617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0DDD9F-7854-48E1-9D39-1E571292E3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CDE508-FDAC-4D75-9E70-E19A231805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B133AC-4C5C-4EC9-8D40-137E0D0019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A92564-F14F-491B-9BD2-08A0EA6E9E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f7f3877fb84002" /><Relationship Type="http://schemas.openxmlformats.org/officeDocument/2006/relationships/slideLayout" Target="/ppt/slideLayouts/slideLayout1.xml" Id="R3fb4b4e8c5b9498d" /><Relationship Type="http://schemas.openxmlformats.org/officeDocument/2006/relationships/slideLayout" Target="/ppt/slideLayouts/slideLayout2.xml" Id="R7efa4a545a874d3d" /><Relationship Type="http://schemas.openxmlformats.org/officeDocument/2006/relationships/slideLayout" Target="/ppt/slideLayouts/slideLayout3.xml" Id="Rfb403c061b054bc9" /><Relationship Type="http://schemas.openxmlformats.org/officeDocument/2006/relationships/slideLayout" Target="/ppt/slideLayouts/slideLayout4.xml" Id="R3e07072a79a143cc" /><Relationship Type="http://schemas.openxmlformats.org/officeDocument/2006/relationships/slideLayout" Target="/ppt/slideLayouts/slideLayout5.xml" Id="R5ed6c64d88e5442c" /><Relationship Type="http://schemas.openxmlformats.org/officeDocument/2006/relationships/slideLayout" Target="/ppt/slideLayouts/slideLayout6.xml" Id="Re20a7fd823d34d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b4b4e8c5b9498d"/>
    <p:sldLayoutId xmlns:r="http://schemas.openxmlformats.org/officeDocument/2006/relationships" id="2147483650" r:id="R7efa4a545a874d3d"/>
    <p:sldLayoutId xmlns:r="http://schemas.openxmlformats.org/officeDocument/2006/relationships" id="2147483651" r:id="Rfb403c061b054bc9"/>
    <p:sldLayoutId xmlns:r="http://schemas.openxmlformats.org/officeDocument/2006/relationships" id="2147483652" r:id="R3e07072a79a143cc"/>
    <p:sldLayoutId xmlns:r="http://schemas.openxmlformats.org/officeDocument/2006/relationships" id="2147483653" r:id="R5ed6c64d88e5442c"/>
    <p:sldLayoutId xmlns:r="http://schemas.openxmlformats.org/officeDocument/2006/relationships" id="2147483654" r:id="Re20a7fd823d34d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0286963984fde" /><Relationship Type="http://schemas.openxmlformats.org/officeDocument/2006/relationships/notesSlide" Target="/ppt/notesSlides/notesSlide1.xml" Id="R644ce83610aa4d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b097e9b7ed4bc2" /><Relationship Type="http://schemas.openxmlformats.org/officeDocument/2006/relationships/notesSlide" Target="/ppt/notesSlides/notesSlide2.xml" Id="Rc6506dca1fff44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8998325485418f" /><Relationship Type="http://schemas.openxmlformats.org/officeDocument/2006/relationships/notesSlide" Target="/ppt/notesSlides/notesSlide3.xml" Id="R0e9ce4e947c945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c1353b51cb45b3" /><Relationship Type="http://schemas.openxmlformats.org/officeDocument/2006/relationships/notesSlide" Target="/ppt/notesSlides/notesSlide4.xml" Id="R65eaa0107a1541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c47f40221d471e" /><Relationship Type="http://schemas.openxmlformats.org/officeDocument/2006/relationships/image" Target="/ppt/media/image.jpeg" Id="R21372bcb0c44482b" /><Relationship Type="http://schemas.openxmlformats.org/officeDocument/2006/relationships/notesSlide" Target="/ppt/notesSlides/notesSlide5.xml" Id="Rc900614df3f248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c37a7c644f42e6" /><Relationship Type="http://schemas.openxmlformats.org/officeDocument/2006/relationships/notesSlide" Target="/ppt/notesSlides/notesSlide6.xml" Id="R644ee24461b146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d8eca5b5840d0" /><Relationship Type="http://schemas.openxmlformats.org/officeDocument/2006/relationships/image" Target="/ppt/media/image.png" Id="Rb3e78c2b78784806" /><Relationship Type="http://schemas.openxmlformats.org/officeDocument/2006/relationships/notesSlide" Target="/ppt/notesSlides/notesSlide7.xml" Id="R800143a254894d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78d0a99b054350" /><Relationship Type="http://schemas.openxmlformats.org/officeDocument/2006/relationships/chart" Target="/ppt/slides/charts/chart1.xml" Id="R8bee8c047be74bfd" /><Relationship Type="http://schemas.openxmlformats.org/officeDocument/2006/relationships/notesSlide" Target="/ppt/notesSlides/notesSlide8.xml" Id="Rf6823f167ec948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fde0c1f1b5498a" /><Relationship Type="http://schemas.openxmlformats.org/officeDocument/2006/relationships/notesSlide" Target="/ppt/notesSlides/notesSlide9.xml" Id="R68cdb65157724e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ebd3dba8464cf7" /><Relationship Type="http://schemas.openxmlformats.org/officeDocument/2006/relationships/notesSlide" Target="/ppt/notesSlides/notesSlide10.xml" Id="R8b0acb64fbaf49d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开发 10 单元</c:v>
          </c:tx>
          <c:spPr>
            <a:solidFill xmlns:a="http://schemas.openxmlformats.org/drawingml/2006/main">
              <a:srgbClr val="2F6E6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0.5882352941</c:v>
                </c:pt>
                <c:pt idx="1">
                  <c:v>0.8333333333</c:v>
                </c:pt>
                <c:pt idx="2">
                  <c:v>0.6896551724</c:v>
                </c:pt>
              </c:numCache>
            </c:numRef>
          </c:val>
        </c:ser>
        <c:ser>
          <c:idx val="1"/>
          <c:order val="1"/>
          <c:tx>
            <c:v>测试 30 单元</c:v>
          </c:tx>
          <c:spPr>
            <a:solidFill xmlns:a="http://schemas.openxmlformats.org/drawingml/2006/main">
              <a:srgbClr val="C24E2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0.5681818182</c:v>
                </c:pt>
                <c:pt idx="1">
                  <c:v>0.9615384615</c:v>
                </c:pt>
                <c:pt idx="2">
                  <c:v>0.7142857143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2D36"/>
                  </a:solidFill>
                  <a:latin typeface="Songti SC"/>
                  <a:ea typeface="Songti SC"/>
                  <a:cs typeface="Songti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BC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172D36"/>
              </a:solidFill>
              <a:latin typeface="Songti SC"/>
              <a:ea typeface="Songti SC"/>
              <a:cs typeface="Songti SC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4C5EB-BDF8-4631-A187-2F5AE8FE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FECCB-6EDF-4A69-9D46-13A0ADD9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知识图谱课程 · 期末汇报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D7362-FF46-47ED-B876-D9B4934B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从代码到理由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6F10C-F4CC-467A-8151-D476B492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pPr>
            <a:r>
              <a: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rPr>
              <a:t>开源项目历史知识图谱与可追溯问答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4743F-4596-44A5-B62F-7FEE35BF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以 Flask 为主要实验对象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00D6B-D39B-401B-857B-E9970878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4CA77-2F4B-4AC7-8113-3E6A4BE6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42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输入公开 Python 仓库链接，自动整理有限历史，连接证据，并让答案回到冻结原文。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4DBC0-EBD4-4015-8A16-FF402BF9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材料定稿：2026-10-30 · 课堂日期以课程通知为准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82A4A-D027-4A63-A3A1-303F8119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722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六角色协作 · 姓名与学号待本人补充</a:t>
            </a:r>
          </a:p>
        </p:txBody>
      </p:sp>
    </p:spTree>
    <p:extLst>
      <p:ext uri="{BB962C8B-B14F-4D97-AF65-F5344CB8AC3E}">
        <p14:creationId xmlns:p14="http://schemas.microsoft.com/office/powerpoint/2010/main" val="18011224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83CCB0-1467-4EBC-B672-353B4A14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研究问题：代码说明结果，历史解释为什么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83CCC-B98D-4294-9D6B-60301B1D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85B4E-F033-416B-B744-1A2C3A8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64FE2-5982-4CC3-ADA8-3B6B0026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40865-B8F5-46FF-B698-C3D80866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8B3C4-7F41-418B-BA5B-CBBF527D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当前代码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A0E32-740F-4034-AD2F-985B9B5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系统怎样运行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7C18F-ED09-4CE1-B2EB-CCE532D1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E159FB-1659-46EF-A178-119FD430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Issue / PR /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C8CE3-D882-4E3C-909F-5EA8B1A4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为什么这样改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C7FC2-9F50-4683-8D5E-D9F53E1A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ED518-2BCC-4DE4-BD49-7CB47420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/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EB1BC3-20D9-4359-BA70-38941BCF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实际改了什么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06E7F-7180-4F8D-9BF9-D3DA16C4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83E3CA-5322-48FA-AA9E-2CB9068E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Release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1F26D-14DF-4F2A-B7FD-FA5DD0E9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何时进入版本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37844-95B9-4EE1-89C6-B4CC1805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1DC32A-2ECB-405E-81A2-537713FA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0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RQ1 知识抽取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7CDF99-F5E0-4D3F-B569-35F5EB87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5524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能否从完整讨论中抽取属于本项目的决定、采用状态和明示理由，并保留可复算证据？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A2447-10AD-46B7-AD4D-DB04CC03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575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RQ2 图增强问答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82A56-4363-4F27-92DE-B6A9CF53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9570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在相同来源、模型、提示和上下文预算下，图路径扩展是否改善跨来源问答？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C8B890-C2BC-4420-89E0-1C3C69A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735DB8-CE8B-4110-A488-413BB07B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边界：一个公开 Python 仓库 · 有限近期历史 · 不执行目标源码 · 不训练基础模型 · 模型银标不等于人工金标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B9EFB6-3162-4E16-BFA1-643E6027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目标不是更大的图，而是可核对、可复用的答案。</a:t>
            </a:r>
          </a:p>
        </p:txBody>
      </p:sp>
    </p:spTree>
    <p:extLst>
      <p:ext uri="{BB962C8B-B14F-4D97-AF65-F5344CB8AC3E}">
        <p14:creationId xmlns:p14="http://schemas.microsoft.com/office/powerpoint/2010/main" val="3197763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8BE954-95EC-495D-B9C7-243CEA40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自动URL流程：一次输入，六阶段可恢复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09E95-13B2-47FB-8E4A-46012A66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05802-C207-4CB5-97E8-E33C4F6A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C0750-B2ED-4748-9BFB-4BE9CD0D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46C03-BA24-4645-92A9-999F4FEB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303A6-C838-43D8-B64E-8847111A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用户只提交 repo_url。P1 统一编排，阶段检查点支持暂停与恢复。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1D4DE-8B7B-4E0F-B852-27FB69B4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015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08F39-57B7-4840-8F5C-3E7FD537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762E7-A6E6-4B4B-B5ED-DBF28E60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发现仓库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D3D70-9A3D-4053-8A3D-0DBD1498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公开性 / Python 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F66E5-2C0B-4F5E-99F6-98C46B7D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F9C36-8DAE-44F8-9323-29E471A9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采集讨论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307DC-1787-45F8-A082-41F069AA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+ relore · 分页与完整单元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F5FD7-08C2-4156-8882-759AFF69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8FD73-46B3-47E2-948E-4565BFA2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代码事实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A2DB69-A2B0-4A50-BC1B-9E794B71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P3 · git / AST / 文件快照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A8EAC3-086B-4045-8CB5-32A210FA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1F916-F972-4B5F-9A2D-63E13D90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抽取决定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6A056-BFBC-45A7-87A1-D5200DE8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· Decision + 逐字引文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C68B8B-1FC2-4878-9F5D-3B985F64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BCE3F1-6463-4309-BBAA-0E534B5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校验冻结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E57BE7-3DE3-4286-9A37-F4DE6580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原文 / 端点 / 哈希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E114C5-A165-47A5-99C3-97659812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EFB2DA-3032-4EBD-B2E1-51C0B758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建图与问答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0BFACC-C734-4D76-B99C-9D6DD6E7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/ P4 / P5 · 检索与出处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C0C723-5A35-4757-BA08-DD9A38D0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907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F0606-1B69-480C-9786-5B82C57A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输入只需 repo_url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016EB-4666-44C3-B2B7-0B7995CE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不要求填写 Issue、PR、SHA 或文件路径，也不人工补边。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94194F-94BC-49F0-B843-1245FE4F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E8DD7D-FD65-4B1C-A100-0564A76E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自动范围：最多 40 个完整讨论单元、24 个文件快照、3 个 Release、300 次请求。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A85340-173F-43B4-8DCD-8F9BA113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未采到的事实进入 gaps；empty、unsupported、error 分开显示，不能把运行故障写成正确弃答。</a:t>
            </a:r>
          </a:p>
        </p:txBody>
      </p:sp>
    </p:spTree>
    <p:extLst>
      <p:ext uri="{BB962C8B-B14F-4D97-AF65-F5344CB8AC3E}">
        <p14:creationId xmlns:p14="http://schemas.microsoft.com/office/powerpoint/2010/main" val="16602860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F800E0-4425-4C9C-A76F-78DCA923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Schema与证据：关系必须能回到原文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872AB-1290-4D42-A03B-4C573FDB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2594A-9FB7-4192-A8A9-A4BD65D8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FA98F-3EC2-40A2-8AE2-3AE981D8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9FC62-598E-4FB8-992C-2DF1256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4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DC847-F53D-4FC7-93D2-9CAA0CD5D9EB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590550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476500"/>
                <a:gridCol w="2000250"/>
              </a:tblGrid>
              <a:tr h="400050"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实体（含 P3 增量）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关键字段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证据入口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Project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repo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Issue / PullRequest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number, state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body / comment / events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Commit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full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File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path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冻结源码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tag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 notes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Decision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subject, action, status, rationale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逐字引文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Developer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id / login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 JSON user / merged_by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Function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qualified_name + SHA + line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AST function signature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0BA0A-D698-447D-AD8B-A2518124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04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Evidence 契约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E64BC-370E-4548-A677-2E011E6A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text[start:end] == quote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6CD61-BD4D-4762-A5F4-47C39BC9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0-based Unicode 码点 · 左闭右开</a:t>
            </a:r>
          </a:p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source_id + text_sha256 +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67643-DED4-4A4F-B681-70D47EFA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14675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3202E-5ADA-410A-86C3-0FC2EECC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P3 增量 · 新数据版本只读重放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E2842-6301-4AF8-8C06-6DC8A328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24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 Developer  ·  384 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28E260-7AE1-47E5-9FC8-07EA3671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528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3CFD6-801C-49B3-9D0B-69C80C5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D0D80-7A20-4B83-8E29-154EB28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7672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6611FD-B531-43E8-81FC-51AD73FB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7672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DF2B3-811C-43EE-91DA-3586F4B8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 384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9CB66-05AE-403F-970F-33B2E51B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005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File → Function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4DFE7F-D346-46FD-A3D2-DCDFB3DD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PR→Commit 仍为 P1 的 MergedAs；不生成 Developer→Commit。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B8F179-15DE-4F3A-97A7-D64E954D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语义护栏：ClaimsToClose 仅是声明，Closes 需官方事件；MentionsPR 仅是提及，ReachableIn 需 git 证明。</a:t>
            </a:r>
          </a:p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Decision 状态不自动等于功能已修复。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F21C97-EE75-43EA-8FA0-1B4E8140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旧 1.4.1 生产图保持只读；Developer/Function 增量来自新数据版本重放，不是原地补写。</a:t>
            </a:r>
          </a:p>
        </p:txBody>
      </p:sp>
    </p:spTree>
    <p:extLst>
      <p:ext uri="{BB962C8B-B14F-4D97-AF65-F5344CB8AC3E}">
        <p14:creationId xmlns:p14="http://schemas.microsoft.com/office/powerpoint/2010/main" val="13202489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74FC92-9479-4087-9816-42487C49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真实数据集范围：369条来源，40个完整讨论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CA338-3C7E-4DE4-AC8B-082E6EB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5AB94-20EC-490D-AAE7-B8B20961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FA4B3-FF52-45CB-86AA-F94291F7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D62D9-F765-4B9E-A8B0-80F749FD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9CB20-74C6-4118-A226-E58E22F2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39B53-66D3-407C-8A8D-8AE3CA50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冻结来源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BC4F95-0834-4AC7-B0A9-DF436551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DB53B-3A4E-4852-95D2-D787622A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完整讨论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82625-2653-436C-B305-C36DF0E0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F61F3-F356-48FA-95A2-EFDEBFBD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文件快照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F07CA-8B9C-40CD-A73B-20622373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FAF4F-EF75-4501-A47C-A9D865CC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业务实体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B680B9-EB80-443A-8CE9-7D1B9ED1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320AF-CF3F-4342-A9B7-D96378F2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关系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94DA4A-4100-40E5-881C-485D3DBE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333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8D38FC-8397-441B-884D-1F2254D8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E94EE-2EDA-4D93-B355-6D1D7699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6A1239-0068-4B96-8DF8-D58480DE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61 Decision 已包含在 133 个实体中，不重复相加。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19865-A29B-4267-89D6-E26593A3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已采记录：2019-05-10 至 2026-10-27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74E0CA-8760-46C2-8DBD-86045DAE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profile：course_small_v1 · 同一真实 job 已 ready/index_graph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BCAC46-9A80-439A-8061-4D816193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52959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D59B37-5A9C-46F8-821F-EFBDB15BC3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72bcb0c44482b"/>
          <a:stretch xmlns:a="http://schemas.openxmlformats.org/drawingml/2006/main"/>
        </p:blipFill>
        <p:spPr>
          <a:xfrm xmlns:a="http://schemas.openxmlformats.org/drawingml/2006/main">
            <a:off x="6267450" y="1495425"/>
            <a:ext cx="5181600" cy="29146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F71224-E46F-43CB-BA80-AFEA8E1B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5295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真实页面截图：ready / index_graph，2026-10-30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46917A-E385-4CDF-B337-FC04D3A0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33950"/>
            <a:ext cx="5295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页面同时显示 584 项覆盖缺口与限制：关联讨论超限 13、版本可达未确认 12、外部依赖或未解析导入 374、未采导入目标 181。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4D6670-2B19-4001-BCE4-01035F8F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有限近期采样不是 Flask 全历史；584 项覆盖缺口/限制不等同于 584 个事实错误。</a:t>
            </a:r>
          </a:p>
        </p:txBody>
      </p:sp>
    </p:spTree>
    <p:extLst>
      <p:ext uri="{BB962C8B-B14F-4D97-AF65-F5344CB8AC3E}">
        <p14:creationId xmlns:p14="http://schemas.microsoft.com/office/powerpoint/2010/main" val="14589560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9676C1-9386-45CF-B511-F9E2779B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跨源案例：PR #6096 到函数实体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8725A-80CF-4E64-B723-606B6C95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08D4F-0A8F-44A9-A8C2-625AD884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464FE-3867-4881-8729-ABFC353B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B287F-7D6B-4C76-92F7-7EF855E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29CF9-72F8-48F6-9798-0D6B19D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固定链：PR #6096（lkk7→davidism）→ 05e9c6b → src/flask/testing.py → flask.testing._get_werkzeug_version · 新数据版本只读重放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DD365-04F2-461A-B681-BBAD9A6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191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8CC"/>
          </a:solidFill>
          <a:ln xmlns:a="http://schemas.openxmlformats.org/drawingml/2006/main" w="9525">
            <a:solidFill>
              <a:srgbClr val="C24E2A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PullRequest #6096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Authored：lkk7 → PR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Merged：davidism →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BD34D-B68B-4ADA-9482-747689E4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8956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897E9-FAD0-4B0F-8D27-DA2AFA96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MergedAs（P1）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C6251-9072-4B4A-BDD4-9FEE5410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191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· 05e9c6b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05e9c6bd630ecf4ec0ec884b1fc7901663737bc7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F7B22-306D-4FEF-88B3-8409FE3A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0005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C21B7-26DD-453F-8B4D-6EAB89E9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909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Touches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7923C-88FB-4B49-8ADA-8C4B7EC5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File · src/flask/testing.py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同 SHA 的冻结文件快照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2C00C4-590A-4820-B3D6-4503555E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Defines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B2CE4-A496-494C-8527-A446983F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72000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C111B-43A2-42E3-B269-12311B00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05300"/>
            <a:ext cx="6076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5"/>
          </a:solidFill>
          <a:ln xmlns:a="http://schemas.openxmlformats.org/drawingml/2006/main" w="9525">
            <a:solidFill>
              <a:srgbClr val="2F6E69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Function · flask.testing._get_werkzeug_version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L100–106 · “def _get_werkzeug_version() -&gt; str:”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0780E3-BE6B-44FF-B6A3-4261DAFE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这个案例证明了什么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6BAA0E-880F-4047-8971-2779D606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讨论身份、合并动作、代码树与函数实体来自不同来源。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每跳都有字段/关系/偏移证据，不靠标题或共现补边。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Developer 只连 PullRequest；没有 Developer→Commit。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BE6BF-3AB1-4F5F-8D58-D2E1A1CA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607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662594-F6D4-4783-9B98-3F739002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证据落点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D9A15C-C0F7-4F8F-A68A-801C40F4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19750"/>
            <a:ext cx="569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/ Merged：PR API 的 user / merged_by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Defines：签名 [3179, 3214) · File → Function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FlaskClient 是 ClassDef，不计入 Function。</a:t>
            </a:r>
          </a:p>
        </p:txBody>
      </p:sp>
    </p:spTree>
    <p:extLst>
      <p:ext uri="{BB962C8B-B14F-4D97-AF65-F5344CB8AC3E}">
        <p14:creationId xmlns:p14="http://schemas.microsoft.com/office/powerpoint/2010/main" val="1406937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85AE92-920A-4490-AE74-F9F6561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原型问答：6条claims逐条对应冻结源码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C1AF0-C300-42CB-8022-C44B9833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0A8AF-B8D7-4EAD-9B8B-289EF31B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F87760-830D-4FBB-A857-D715370A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AC68-E188-4520-B540-4A58286C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78918-5CB2-49B3-B664-D99A0505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问：FlaskClient.session_transaction 承担什么职责？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36699-2F4B-46E3-BAF1-791B6DFE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上下文管理器，打开会话事务，离开 with 后存回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4BEA8-5C57-49DB-B412-85E56345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145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B0839-0A2B-4919-A2BE-DEC16A30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112F6-E0D0-49C0-B7D2-C88E2A4A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创建临时请求上下文，把 Cookie 加入 WSGI environ，再打开会话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5A4A75-FD26-4784-9321-A6062D7B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813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EB47E-842D-44C7-BF97-B31B3399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39423-7705-46A6-ACFE-2052BE79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null session 直接返回，否则调用 save_session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4363E-62D5-4D3D-B507-FC1CD461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480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FB678-2788-42B6-BFF4-D989E4F9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18D1B-7791-47CC-B017-23E37890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用 Set-Cookie 更新客户端，主机名取 ctx.request.host.partition(':')[0]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B8C317-42AD-4A0E-8E5C-198BE6E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2A226-8C21-4EF8-BC9B-9692A803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共 6 条 claims；页面按原顺序展示，不另写摘要。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7CE2D-1142-4AC7-A9E0-521E92CF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38700" cy="2752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105D5-B566-43B4-83A9-E33B92173C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78c2b78784806"/>
          <a:stretch xmlns:a="http://schemas.openxmlformats.org/drawingml/2006/main"/>
        </p:blipFill>
        <p:spPr>
          <a:xfrm xmlns:a="http://schemas.openxmlformats.org/drawingml/2006/main">
            <a:off x="6741583" y="1495425"/>
            <a:ext cx="4690533" cy="263842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3646F-BAF2-4AF4-B781-168E1588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真实作业页面截图，2026-10-30；重放不调用模型。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0687F-807A-4A7C-92C7-4C0269C1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证据 36 · src/flask/testing.py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3C24A1-27D4-4F5E-9735-3B1D305E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[5886, 6057) · Unicode 码点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69BC37-A6FC-4327-8486-D2CF91B7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SourceDocument:c06330ce…ed37a43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321D3D-2BB8-42D1-B1C9-8484F1C6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05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dataset:810db371…5cd00c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398435-9E1E-468B-BDBD-1B963AB7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QueryResult 保留 ok、empty、unsupported、error 四种状态；本次另有 empty 响应原样保留。</a:t>
            </a:r>
          </a:p>
        </p:txBody>
      </p:sp>
    </p:spTree>
    <p:extLst>
      <p:ext uri="{BB962C8B-B14F-4D97-AF65-F5344CB8AC3E}">
        <p14:creationId xmlns:p14="http://schemas.microsoft.com/office/powerpoint/2010/main" val="4709894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B9A45-B7C7-4E76-AB2D-7C368B24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抽取实验：测试集高召回，但精度只有 0.568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50DE8-ED53-41B7-811E-454DA6ED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E354E-3F53-45C2-9506-B08F6185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83D1F3-1A1B-47E0-A8AD-7BD4F6F5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3DADC-026C-4260-8155-86C446BD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8 / 10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543B7B81-5286-4A91-ABBC-8FBFA41976C9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572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ee8c047be74bf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CAE7C-ABFA-40F6-9B13-3CED420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049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0.714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45B33-A0A8-449A-A831-A8212571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测试集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14AF5A-D9D9-4BA3-8B97-8252A5CC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479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35974-A12B-4B08-B2AF-BBC8C768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TP / FP / FN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8C3D4-D2D4-48A9-97F9-42C5265F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25 / 19 /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FDA7C-910A-468B-8186-AC4ABFD4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38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明示理由覆盖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88D50-76F0-4ADE-8984-B073C13F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 / 15 = 0.867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8EF85-47FC-4DE9-A6AC-14A6254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开发集 F1 0.690 · 理由 9/11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F272F-7E5D-45E3-A102-C2702FB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57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评测口径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F44D2C-4147-49EA-B2EB-C4A0482C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独立模型银标与复核；非人工金标。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596DB-7CE5-4DAE-AB18-EDFDCD6C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19 个 FP 是相对冻结银标的未匹配预测，可能含银标遗漏，但不能忽略这一精度差距。</a:t>
            </a:r>
          </a:p>
        </p:txBody>
      </p:sp>
    </p:spTree>
    <p:extLst>
      <p:ext uri="{BB962C8B-B14F-4D97-AF65-F5344CB8AC3E}">
        <p14:creationId xmlns:p14="http://schemas.microsoft.com/office/powerpoint/2010/main" val="21067898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2C3EF5-FA7F-4FAA-9AE6-87370338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A/B对照：事实覆盖+0.157，但区间跨零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0280B-EA26-4E0B-8F61-BCFED7BC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B40CB-56C0-4580-90E0-0B830068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20BE2-8C18-43CF-95AF-9DF6E9C8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C64E6-DB9A-4233-BC81-78C60507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70437-A0BC-46F7-ADBF-891D2F8F6C2E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6675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381125"/>
                <a:gridCol w="1381125"/>
                <a:gridCol w="1905000"/>
              </a:tblGrid>
              <a:tr h="4191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指标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A 检索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B 图扩展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观察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事实覆盖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0.600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0.740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+0.140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证据组召回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0.636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0.691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+0.055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无依据断言率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0.026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0.043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更高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中位延迟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2.285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2.688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+0.403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99A4A-849C-40D6-8198-708BD43A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B-A 配对事实覆盖差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04FA9-4BA2-4405-83B7-46A08854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+0.157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4D1E3-D8FF-48B7-9B4B-C3D9A298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95% 描述性 bootstrap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23C33-175F-40B0-ACC6-296F3CA7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[-0.122, 0.457]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73360-C90D-436A-9E01-839DD4A0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区间跨零 · B胜5 / A胜4 / 平6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27D98-616E-4B25-B106-F8F9B2AB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06221-F348-4955-8C73-19A1DF68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正确弃答率 N/A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DCF29-D698-4EA9-BE34-B0D74AF1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rPr>
              <a:t>P6 状态区 · 78eaa07 最终公开汇总</a:t>
            </a:r>
          </a:p>
        </p:txBody>
      </p:sp>
      <p:sp>
        <p:nvSpPr>
          <p:cNvPr id="15" name="p6-status-update">
            <a:extLst xmlns:a="http://schemas.openxmlformats.org/drawingml/2006/main">
              <a:ext uri="{FF2B5EF4-FFF2-40B4-BE49-F238E27FC236}">
                <a16:creationId xmlns:a16="http://schemas.microsoft.com/office/drawing/2014/main" id="{C7A0F273-D196-4E57-9BAD-09269D29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全池 92/92；6 题均两遍完整核验；确认证据不足 0；正确弃答率 N/A（分母 0）。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48 答案：32 ok / 15 empty / 1 error · itsdangerous：347来源/30讨论/82实体/78关系/180证据。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itsdangerous 为 partial（保留记录缺口），但 validate/graph/retrieval ready；依赖查询 50路径/25证据/5 claims，出处全通过。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预算累计 9.465795 / 剩余 10.374205。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7F246-947C-4689-97A8-9D76D27E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不宣称图谱显著胜出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F68E3-B2A8-49D6-9055-64CFB872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真实残余：单一 Flask · 模型银标 · 小样本 · 图扩展增加无依据断言 · Neo4j 未现场重连 · Windows/PowerPoint 实机未验证</a:t>
            </a:r>
          </a:p>
        </p:txBody>
      </p:sp>
    </p:spTree>
    <p:extLst>
      <p:ext uri="{BB962C8B-B14F-4D97-AF65-F5344CB8AC3E}">
        <p14:creationId xmlns:p14="http://schemas.microsoft.com/office/powerpoint/2010/main" val="15682463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AC817-4FE3-4FBE-B9B1-73E978F3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复现、贡献与结论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4B775-79E9-4057-9C10-1FEB0267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F83FB-0A87-49BE-A187-2F03C38F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41EB0-B403-4E9B-9B1E-148B296C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A5EDF-EDFB-4B84-B939-213D5337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647BE-0376-4507-B81F-DAB5941C517F}"/>
              </a:ext>
            </a:extLst>
          </p:cNvPr>
          <p:cNvGraphicFramePr/>
          <p:nvPr/>
        </p:nvGraphicFramePr>
        <p:xfrm>
          <a:off xmlns:a="http://schemas.openxmlformats.org/drawingml/2006/main" x="685800" y="1466850"/>
          <a:ext xmlns:a="http://schemas.openxmlformats.org/drawingml/2006/main" cx="7239000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"/>
                <a:gridCol w="4457700"/>
                <a:gridCol w="2000250"/>
              </a:tblGrid>
              <a:tr h="419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角色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主要贡献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姓名 / 学号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P1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URL 编排、冻结与 IO、总集成、跨平台复现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P2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Neo4j 导入、同源检索、QueryResult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P3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AST 提交、文件与版本事实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P4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relore 移植、采集器、抽取、统一回答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P5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Streamlit 原型、证据展示、期末材料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P6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独立参考、A/B 隔离、评分与统计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70CA9-A2AE-4413-85B3-CF50F954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8D554-CF49-45A3-809C-C5870FF5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可运行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D46FC-8E9E-4148-AE07-874C5867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URL → 采集 → 抽取 → 图 → 问答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69C04-9245-4209-AFEF-3FBAD256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BB38D4-5BFD-406A-A9C4-151EE358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claim → evidence → hash → 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DACC3-4AEF-4B17-A69D-69A8DCBE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C7FB5-A4DE-4240-BAF5-D0441385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冻结包与统计代码；在线重跑需本人 API 与预算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7AA50-0C30-4A4A-B5AA-F5986254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1050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00504-D618-486A-AA76-E4E361EA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321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仍未给出一般结论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E2B471-FB0E-4B8F-84DB-07331619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48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图谱收益、正确弃答率（分母 0）、跨仓库泛化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1D0099-A20B-462C-AB86-577067B9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下一步：Windows 实机、Neo4j 现场重连、PowerPoint 原生检查、成员信息。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FD164-1476-491E-8673-CF920B36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769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UI/归档 21 项通过 · ruff 通过 · 成员姓名、学号与正式互评待本人补充。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B42B0-6594-46E0-8263-174EEEDB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前期独立调研、总体方案、架构、协作框架、探索性试跑与采集器移植保留原贡献归属。</a:t>
            </a:r>
          </a:p>
        </p:txBody>
      </p:sp>
    </p:spTree>
    <p:extLst>
      <p:ext uri="{BB962C8B-B14F-4D97-AF65-F5344CB8AC3E}">
        <p14:creationId xmlns:p14="http://schemas.microsoft.com/office/powerpoint/2010/main" val="10021414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2026-10-30T07:55:46.2110000Z</dcterms:created>
  <dcterms:modified xsi:type="dcterms:W3CDTF">2026-10-30T07:55:46.2110000Z</dcterms:modified>
</coreProperties>
</file>