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9b1706808b540f3" Type="http://schemas.openxmlformats.org/officeDocument/2006/relationships/officeDocument" Target="ppt/presentation.xml"/><Relationship Id="Rc53c8f14a63c4515" Type="http://schemas.openxmlformats.org/officeDocument/2006/relationships/extended-properties" Target="docProps/app.xml"/><Relationship Id="Rfe3ab9846871476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4a03f252743af"/>
  </p:sldMasterIdLst>
  <p:notesMasterIdLst>
    <p:notesMasterId xmlns:r="http://schemas.openxmlformats.org/officeDocument/2006/relationships" r:id="R1e34b3f07dea4375"/>
  </p:notesMasterIdLst>
  <p:sldIdLst>
    <p:sldId xmlns:r="http://schemas.openxmlformats.org/officeDocument/2006/relationships" id="256" r:id="Rc4175bb1149c4d51"/>
    <p:sldId xmlns:r="http://schemas.openxmlformats.org/officeDocument/2006/relationships" id="257" r:id="R7f172dc2bf0740ad"/>
    <p:sldId xmlns:r="http://schemas.openxmlformats.org/officeDocument/2006/relationships" id="258" r:id="R3e002a70f2f54581"/>
    <p:sldId xmlns:r="http://schemas.openxmlformats.org/officeDocument/2006/relationships" id="259" r:id="R9b87d692e6e94d07"/>
    <p:sldId xmlns:r="http://schemas.openxmlformats.org/officeDocument/2006/relationships" id="260" r:id="R79c58437c0b24e49"/>
    <p:sldId xmlns:r="http://schemas.openxmlformats.org/officeDocument/2006/relationships" id="261" r:id="R8d74ce19a6e64fee"/>
    <p:sldId xmlns:r="http://schemas.openxmlformats.org/officeDocument/2006/relationships" id="262" r:id="Rec19fa50b1754ec1"/>
    <p:sldId xmlns:r="http://schemas.openxmlformats.org/officeDocument/2006/relationships" id="263" r:id="R2ce3f65f940a4644"/>
    <p:sldId xmlns:r="http://schemas.openxmlformats.org/officeDocument/2006/relationships" id="264" r:id="Rdde07682c8824239"/>
    <p:sldId xmlns:r="http://schemas.openxmlformats.org/officeDocument/2006/relationships" id="265" r:id="Rd18927fedb654a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34b3f07dea4375" Type="http://schemas.openxmlformats.org/officeDocument/2006/relationships/notesMaster" Target="notesMasters/notesMaster1.xml"/><Relationship Id="R2ce3f65f940a4644" Type="http://schemas.openxmlformats.org/officeDocument/2006/relationships/slide" Target="slides/slide8.xml"/><Relationship Id="R3e002a70f2f54581" Type="http://schemas.openxmlformats.org/officeDocument/2006/relationships/slide" Target="slides/slide3.xml"/><Relationship Id="R4fca733b284445b7" Type="http://schemas.openxmlformats.org/officeDocument/2006/relationships/tableStyles" Target="tableStyles.xml"/><Relationship Id="R55f575d222604140" Type="http://schemas.openxmlformats.org/officeDocument/2006/relationships/theme" Target="theme/theme1.xml"/><Relationship Id="R79c58437c0b24e49" Type="http://schemas.openxmlformats.org/officeDocument/2006/relationships/slide" Target="slides/slide5.xml"/><Relationship Id="R7f172dc2bf0740ad" Type="http://schemas.openxmlformats.org/officeDocument/2006/relationships/slide" Target="slides/slide2.xml"/><Relationship Id="R8d74ce19a6e64fee" Type="http://schemas.openxmlformats.org/officeDocument/2006/relationships/slide" Target="slides/slide6.xml"/><Relationship Id="R9b87d692e6e94d07" Type="http://schemas.openxmlformats.org/officeDocument/2006/relationships/slide" Target="slides/slide4.xml"/><Relationship Id="Rc4175bb1149c4d51" Type="http://schemas.openxmlformats.org/officeDocument/2006/relationships/slide" Target="slides/slide1.xml"/><Relationship Id="Rd18927fedb654a40" Type="http://schemas.openxmlformats.org/officeDocument/2006/relationships/slide" Target="slides/slide10.xml"/><Relationship Id="Rdde07682c8824239" Type="http://schemas.openxmlformats.org/officeDocument/2006/relationships/slide" Target="slides/slide9.xml"/><Relationship Id="Re844a03f252743af" Type="http://schemas.openxmlformats.org/officeDocument/2006/relationships/slideMaster" Target="slideMasters/slideMaster1.xml"/><Relationship Id="Rec19fa50b1754ec1" Type="http://schemas.openxmlformats.org/officeDocument/2006/relationships/slide" Target="slides/slide7.xml"/><Relationship Id="Rf73e1567e85940bf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696681815afe4a1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2c75c421ac74b6a" Type="http://schemas.openxmlformats.org/officeDocument/2006/relationships/slide" Target="../slides/slide1.xml"/><Relationship Id="R77beb1c401024b5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b8146f9ef6f4a00" Type="http://schemas.openxmlformats.org/officeDocument/2006/relationships/slide" Target="../slides/slide2.xml"/><Relationship Id="Ra50c2141671447f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84ce3c2e9dd4304" Type="http://schemas.openxmlformats.org/officeDocument/2006/relationships/notesMaster" Target="../notesMasters/notesMaster1.xml"/><Relationship Id="R79a62787b37f4f5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a6264d0ab8e441c" Type="http://schemas.openxmlformats.org/officeDocument/2006/relationships/notesMaster" Target="../notesMasters/notesMaster1.xml"/><Relationship Id="R97cf79e8144a4aa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a2584b21a144d49" Type="http://schemas.openxmlformats.org/officeDocument/2006/relationships/notesMaster" Target="../notesMasters/notesMaster1.xml"/><Relationship Id="Rac57210f7ab44be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1afc37c4e9e46d1" Type="http://schemas.openxmlformats.org/officeDocument/2006/relationships/notesMaster" Target="../notesMasters/notesMaster1.xml"/><Relationship Id="Rc235a89381674b3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d7d65a9acf94170" Type="http://schemas.openxmlformats.org/officeDocument/2006/relationships/notesMaster" Target="../notesMasters/notesMaster1.xml"/><Relationship Id="R7c00fa360e434b2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cf1e13f12d44661" Type="http://schemas.openxmlformats.org/officeDocument/2006/relationships/slide" Target="../slides/slide8.xml"/><Relationship Id="Rd063fc769135458e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004db307ed442e5" Type="http://schemas.openxmlformats.org/officeDocument/2006/relationships/notesMaster" Target="../notesMasters/notesMaster1.xml"/><Relationship Id="Ra820001acd444d1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bcce068545f4d4d" Type="http://schemas.openxmlformats.org/officeDocument/2006/relationships/slide" Target="../slides/slide10.xml"/><Relationship Id="Re0a4213f679b44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建议约40秒。开场只讲问题：当前代码能说明做了什么，却常常不能说明为什么这样改。项目输入一个公开 GitHub Python 仓库 URL，程序自动采集有限历史、抽取决定和理由、建立图与检索，再用统一回答器返回带原文的 claims。Flask 是主要实验对象，换仓库需要重新采集，不能复用 Flask 事实。材料来源：evaluation/results/formal_summary.json、reports/technical_report.md、demo/replay/flask-public-20261030.json。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建议约60秒。研究问题分两层。RQ1看知识抽取：不是只生成一段总结，而是输出原子 Decision，包含主体、动作、状态、结论和明示理由，每条都有冻结原文证据。RQ2看图的价值：A组用共同检索，B组在同一检索种子上扩展图路径，两组同来源、同模型、同预算。边界必须说清：有限近期采样、不执行目标仓库代码、不训练基础模型，参考是模型银标而不是人工金标。来源：reports/technical_report.md第1、3、5章；evaluation/results/protocol_freez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建议约80秒。正常用户只输入 URL。P1 负责发现、采集、统一作业和恢复；relore 提供讨论采集与检索底座；P3 静态读取官方 git 和源码；P4 调用 DeepSeek 抽取决定和理由；P1 校验证据与端点，P2 建图并提供 QueryResult；P4 统一回答器生成 claims，P5 只展示。六阶段分别是 discover、collect、code、extract、validate、index_graph。页面刷新只读取同一 job，暂停可 resume，不重新采集已完成阶段。来源：docs/public_interfaces.md、docs/collector.md、docs/code.md、docs/graph_query.md。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建议约100秒。Schema 在早期 Project、Issue、PullRequest、Commit、File、Release 和 Decision 之外，按课程基础功能加入 P3 的 Developer 与 Function。File 是特定提交下的文件快照，同路径不同 SHA 不合并。Evidence 用 source_id、start、end、quote 表示，程序要求冻结文本切片与 quote 完全相等。P3 增量只读重放得到 18 个 Developer、384 个 Function、20 条 Authored、4 条 Merged、384 条 Defines。方向必须说准：Authored 和 Merged 都是 Developer 指向 PullRequest；Defines 是 File 指向 Function。PR 到 Commit 仍沿用 P1 的 MergedAs，P3 不生成 Developer 到 Commit。上述数字是新增契约在新数据版本上的真实冻结只读重放，不是向旧 1.4.1 生产图原地补写。ClaimsToClose 只是文本声明，Closes 需要官方关闭事件；MentionsPR 只说明 Release notes 提及，ReachableIn 才表示 git 可达；Decision 状态也不等于功能已经修复。来源：deliveries/P3/2026-10-30/developer_function_handoff.md；deliveries/P3/2026-10-30/developer_function_validation.json；docs/code.md；reports/technical_report.md第2章；01_统一执行契约.md C5–C6。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建议约70秒。这是同一个真实 Flask URL 作业：369 条冻结来源、40 个完整讨论、24 个文件快照，构建后得到 133 个业务实体、183 条关系和 333 条证据，其中 61 个 Decision 已包含在实体数里，不能重复加。时间范围是 2019-05-10 到 2026-10-27。profile 上限是 40 个讨论单元、24 个文件快照、3 个 Release 和 300 次请求。页面同时显示 584 项覆盖缺口或限制，这些是范围与解析边界，不是 584 个事实错误。来源：demo/replay/flask-public-20261030.json 的 job 对象；evaluation/results/source_only_freeze.json；docs/p5/screenshots/flask-ready-coverage-20261030.png。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建议约100秒。先把它放回项目演化时间线：Issue #6093 在2026-07-13报告IPv6地址解析问题，PR #6096在07-14打开、08-11合并；冻结的Decision明确选择把修复放到main，而不是bug fix发布，理由是不预期还有bug fix版本且问题不严重。现在沿固定链进入代码：PR #6096（lkk7→davidism）→ 05e9c6b → src/flask/testing.py → flask.testing._get_werkzeug_version。lkk7到PR为Authored，davidism到同一PR为Merged，字段都来自PR API顶层；PR到Commit由P1的MergedAs连接；Commit到文件是同SHA的Touches；File到函数由AST产生Defines。函数签名证据是[3179,3214)，函数位于第100至106行。时间相邻不是因果：Issue关闭时间、ClaimsToClose和MergedAs分别保留强度，当前图也没有用ReachableIn把这次提交谎称为已随某Release发布。该函数层来自独立P1+P3合并验收数据，旧生产图仍止于File。整条验收的网络请求和模型请求均为0。来源：evaluation/results/evolution_timeline.json；deliveries/P3/2026-10-30/developer_function_validation.json；evaluation/results/cross_source_chai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建议约90秒。真实问题问的是 FlaskClient.session_transaction 的职责。页面返回 6 条 claims，并逐条链接到证据 32 到 37。左边抽取了其中 4 条关键内容：它是上下文管理器，离开 with 后保存会话；通过临时请求上下文和 Cookie 打开会话；null session 直接返回，否则 save_session；最后用 Set-Cookie 更新客户端 Cookie。右边是证据 36 的真实页面，显示冻结源码、Unicode 区间 [5886,6057)、SourceDocument 编号和 dataset 版本。页面不另写摘要，按原顺序展示所有 claims。来源：demo/replay/flask-public-20261030.json；docs/p5/screenshots/flask-architecture-source-20261030.png；docs/p5/README.md。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建议约80秒。正式抽取在 30 个完整测试讨论单元上得到 TP 25、FP 19、FN 1，Precision 0.568、Recall 0.962、F1 0.714。参考中 15 条明确理由有 13 条被完整保留，覆盖 0.867。开发集 F1 0.690，理由 9/11。高召回说明大部分银标决定被找到，低精度说明还有大量预测与银标不一致。FP 不能全部解释成人工确认的事实错误，因为银标可能有遗漏；但差距真实存在，必须和结果一起报告。来源：evaluation/results/formal_summary.json 的 extraction 字段；evaluation/results/extraction_summary.json。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建议约100秒。20 道测试题上，A 组总体事实覆盖 0.600、证据组召回 0.636、无依据断言率 0.026；B 组分别是 0.740、0.691 和 0.043。表中总体事实覆盖差为 0.740-0.600=0.140；右侧 0.157 是 15 道可配对计分题的逐题配对平均差，二者口径不同，不能互相替代。配对胜负为 B 胜 5、A 胜 4、平 6，固定种子 95% 描述性 bootstrap 区间是 [-0.122,0.457]，跨零，因此不能宣称图扩展有显著收益。P6 最终公开结果为全池 46 批×2=92 个请求位置全部成功；6 道候选题均完成两遍完整核验，确认证据不足为 0。正确弃答率仍为 N/A，但原因是分子和合格分母都为 0，表示没有确认不足题，不再表示核验未完成。48 个 A/B 答案仍完整保留为 32 ok、15 empty、1 error，不能把空回答改写成正确弃答。第二小库 pallets/itsdangerous 得到 347 来源、30 完整讨论、82 实体、78 关系和 180 证据；job 仍为 partial 并保留记录缺口，但 validate、graph、retrieval 均 ready。依赖查询返回 50 条路径、25 条证据和 5 条 claims，所有 cited evidence、原文引文和来源哈希复核通过。共享账本保守累计 9.465795 元，剩余 10.374205 元。第 9 页下方 p6-status-update 是唯一 P6 状态区，数据来自公开提交 78eaa07。Neo4j 执行边界已核实：主代理已恢复持久服务，P2 使用真实 Neo4j/PostgreSQL 完成扩展数据集加载和 PR #6096 四跳验收，26 项真实服务回归通过，包含 author-to-function 与 function-to-merger 两条方向路径。当前生产图仍为旧 1.4.1，新增实体来自真实新数据版本重放，不是生产图原地补写。其他真实残余是单一 Flask、模型银标、小样本、无依据断言增加、Windows 字体替换与课堂彩排待完成；macOS PowerPoint 原生复核已通过。来源：P2 公开提交 19602e6 的 cross_source_chain.json、handoff 与 STATUS_P2；feat/p6-formal-results 78eaa07 的 evaluation/results/formal_summary.json、final_acceptance.json、second_repo_acceptance.json 和 P6 handoff。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建议约40秒。最后一页把已完成结果和不能外推的边界分开。系统已经完成真实 Flask URL 到采集、抽取、建图、检索和带出处问答的闭环；P6 还完成了 pallets/itsdangerous 的第二小库迁移检查，得到可核对的依赖查询答案。冻结包可以复现，在线重跑需要使用者自己的 API 与预算。结论是系统可运行、可追溯、可复现，但图谱收益没有在本次小样本中显著成立，正确弃答率因合格分母为 0 而保持 N/A，不能解释为核验失败。仍未外推的是一般图收益、任意仓库适用性。Neo4j 执行边界已核实：主代理恢复持久服务后，P2 在公开提交 19602e6 使用真实 Neo4j/PostgreSQL 完成扩展数据集加载和 PR #6096 四跳验收，26 项真实服务回归通过，两条方向路径分别为 author-to-function 与 function-to-merger；当前生产图仍是旧 1.4.1，新增实体来自真实新数据版本重放。其他真实残余是 Windows 字体替换与课堂彩排；macOS PowerPoint 原生复核已通过。六角色分工见表；姓名、学号、职责确认与正式互评按当前要求留空，不虚构。P4 前期独立调研、方案、架构、协作框架、试跑和采集器移植保留原归属。来源：P2 公开提交 19602e6 的 cross_source_chain.json、handoff 与 STATUS_P2；reports/technical_report.md第8–9章；feat/p6-formal-results 78eaa07 的 final_acceptance.json 与 P6 handoff；deliveries/P1/2026-10-30/handoff.md；deliveries/P4/2026-10-27/handoff.md；coordination/STATUS_P5.md。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2e377be1c41470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1a7de9b73e44dc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04fc4493128d4a7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fe0571d3e47b412b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e618343e076340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1e2c8438e21f489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422AF9-8361-42A1-A7FC-F2287EB489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43E618-C584-4E8E-9008-7FC3F47B44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94E83F-5152-46DC-B723-DC579D0B5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BFA17F-E492-4FA3-8ADD-4EE6BE02F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EB488B-A910-49D3-B2A4-626C38A317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CEDAE2-2DE4-485A-B5A8-C066FD78E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EB74A9-E9E5-4F58-BD5A-C7AB75FCA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4ECE2D-9435-4427-94D5-4AC51F232B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D95923-BCD0-41CD-A468-8D8F40DE46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63ED8F-79E2-4496-966F-66B39EAD76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43cab905604e23" Type="http://schemas.openxmlformats.org/officeDocument/2006/relationships/slideLayout" Target="../slideLayouts/slideLayout6.xml"/><Relationship Id="R32e4a170f16b4f83" Type="http://schemas.openxmlformats.org/officeDocument/2006/relationships/slideLayout" Target="../slideLayouts/slideLayout5.xml"/><Relationship Id="R6e8f16f613d540c1" Type="http://schemas.openxmlformats.org/officeDocument/2006/relationships/slideLayout" Target="../slideLayouts/slideLayout2.xml"/><Relationship Id="R8195bfe0d4c94251" Type="http://schemas.openxmlformats.org/officeDocument/2006/relationships/slideLayout" Target="../slideLayouts/slideLayout3.xml"/><Relationship Id="R85f3d78d27a84f9d" Type="http://schemas.openxmlformats.org/officeDocument/2006/relationships/slideLayout" Target="../slideLayouts/slideLayout1.xml"/><Relationship Id="Rcbb8aae3bbf54a4e" Type="http://schemas.openxmlformats.org/officeDocument/2006/relationships/slideLayout" Target="../slideLayouts/slideLayout4.xml"/><Relationship Id="Redd6aa577144458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3d78d27a84f9d"/>
    <p:sldLayoutId xmlns:r="http://schemas.openxmlformats.org/officeDocument/2006/relationships" id="2147483650" r:id="R6e8f16f613d540c1"/>
    <p:sldLayoutId xmlns:r="http://schemas.openxmlformats.org/officeDocument/2006/relationships" id="2147483651" r:id="R8195bfe0d4c94251"/>
    <p:sldLayoutId xmlns:r="http://schemas.openxmlformats.org/officeDocument/2006/relationships" id="2147483652" r:id="Rcbb8aae3bbf54a4e"/>
    <p:sldLayoutId xmlns:r="http://schemas.openxmlformats.org/officeDocument/2006/relationships" id="2147483653" r:id="R32e4a170f16b4f83"/>
    <p:sldLayoutId xmlns:r="http://schemas.openxmlformats.org/officeDocument/2006/relationships" id="2147483654" r:id="R0743cab905604e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930b5b55c3f4bfd" Type="http://schemas.openxmlformats.org/officeDocument/2006/relationships/notesSlide" Target="../notesSlides/notesSlide1.xml"/><Relationship Id="Rd24cdb82d7334f29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5d2f5657153649ec" Type="http://schemas.openxmlformats.org/officeDocument/2006/relationships/slideLayout" Target="../slideLayouts/slideLayout6.xml"/><Relationship Id="Rdede7f8c57964e3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bc9d51ee0004d28" Type="http://schemas.openxmlformats.org/officeDocument/2006/relationships/slideLayout" Target="../slideLayouts/slideLayout6.xml"/><Relationship Id="R5d23f11b85b947f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82618106f70640b3" Type="http://schemas.openxmlformats.org/officeDocument/2006/relationships/slideLayout" Target="../slideLayouts/slideLayout6.xml"/><Relationship Id="R88df6d3f1e2148c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6033580e33d43d7" Type="http://schemas.openxmlformats.org/officeDocument/2006/relationships/image" Target="../media/image.jpeg"/><Relationship Id="R688801764a204b0d" Type="http://schemas.openxmlformats.org/officeDocument/2006/relationships/notesSlide" Target="../notesSlides/notesSlide5.xml"/><Relationship Id="Rb4f6d5359a584d7f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d6979107b7b549b0" Type="http://schemas.openxmlformats.org/officeDocument/2006/relationships/notesSlide" Target="../notesSlides/notesSlide6.xml"/><Relationship Id="Rf535c03684fc419d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c0c821fd213d43e5" Type="http://schemas.openxmlformats.org/officeDocument/2006/relationships/image" Target="../media/image.png"/><Relationship Id="Rc71590378bc34dbd" Type="http://schemas.openxmlformats.org/officeDocument/2006/relationships/notesSlide" Target="../notesSlides/notesSlide7.xml"/><Relationship Id="Rd8b674b84d364e3e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37298091dc0c40bf" Type="http://schemas.openxmlformats.org/officeDocument/2006/relationships/slideLayout" Target="../slideLayouts/slideLayout6.xml"/><Relationship Id="R68e20c1d669948d3" Type="http://schemas.openxmlformats.org/officeDocument/2006/relationships/notesSlide" Target="../notesSlides/notesSlide8.xml"/><Relationship Id="R929cfb6cfe82482d" Type="http://schemas.openxmlformats.org/officeDocument/2006/relationships/chart" Target="charts/chart1.xml"/></Relationships>
</file>

<file path=ppt/slides/_rels/slide9.xml.rels><?xml version='1.0' encoding='UTF-8' standalone='yes'?>
<Relationships xmlns="http://schemas.openxmlformats.org/package/2006/relationships"><Relationship Id="Ra6880e3a6dc643b5" Type="http://schemas.openxmlformats.org/officeDocument/2006/relationships/notesSlide" Target="../notesSlides/notesSlide9.xml"/><Relationship Id="Rad8082e42dc943c3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1ef5e9b200ed4a46" Type="http://schemas.openxmlformats.org/officeDocument/2006/relationships/slideLayout" Target="../slideLayouts/slideLayout6.xml"/><Relationship Id="R8ba597d4b0e64381" Type="http://schemas.openxmlformats.org/officeDocument/2006/relationships/notesSlide" Target="../notesSlides/notesSlide10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开发 10 单元</c:v>
          </c:tx>
          <c:spPr>
            <a:solidFill xmlns:a="http://schemas.openxmlformats.org/drawingml/2006/main">
              <a:srgbClr val="2F6E6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0.5882352941</c:v>
                </c:pt>
                <c:pt idx="1">
                  <c:v>0.8333333333</c:v>
                </c:pt>
                <c:pt idx="2">
                  <c:v>0.6896551724</c:v>
                </c:pt>
              </c:numCache>
            </c:numRef>
          </c:val>
        </c:ser>
        <c:ser>
          <c:idx val="1"/>
          <c:order val="1"/>
          <c:tx>
            <c:v>测试 30 单元</c:v>
          </c:tx>
          <c:spPr>
            <a:solidFill xmlns:a="http://schemas.openxmlformats.org/drawingml/2006/main">
              <a:srgbClr val="C24E2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0.5681818182</c:v>
                </c:pt>
                <c:pt idx="1">
                  <c:v>0.9615384615</c:v>
                </c:pt>
                <c:pt idx="2">
                  <c:v>0.7142857143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D36"/>
                  </a:solidFill>
                  <a:latin typeface="Songti SC"/>
                  <a:ea typeface="Songti SC"/>
                  <a:cs typeface="Song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-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C4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DBC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EC4B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72D36"/>
              </a:solidFill>
              <a:latin typeface="Songti SC"/>
              <a:ea typeface="Songti SC"/>
              <a:cs typeface="Songti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12EE-E7EC-484F-A84E-EE413AB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D1449-373E-493B-9A5B-B977535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650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知识图谱课程 · 期末汇报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4FA3D-644D-4131-B9E6-007EB455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从代码到理由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7CD8A-B110-4246-8E7A-489755A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defRPr>
            </a:pPr>
            <a:r>
              <a:rPr sz="2700" b="0" i="0">
                <a:solidFill>
                  <a:srgbClr val="E9DCC9"/>
                </a:solidFill>
                <a:latin typeface="Songti SC"/>
                <a:ea typeface="Songti SC"/>
                <a:cs typeface="Songti SC"/>
              </a:rPr>
              <a:t>开源项目历史知识图谱与可追溯问答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61321-8492-4E08-A053-BCFD63CE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pPr>
            <a:r>
              <a:rPr sz="1800" b="0" i="0">
                <a:solidFill>
                  <a:srgbClr val="AFC1C5"/>
                </a:solidFill>
                <a:latin typeface="Songti SC"/>
                <a:ea typeface="Songti SC"/>
                <a:cs typeface="Songti SC"/>
              </a:rPr>
              <a:t>基于 relore · 以 Flask 为主要实验对象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5A280-F1C7-4B97-B352-3732742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79DFC-6DC4-44ED-A618-B91199D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942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875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输入公开 Python 仓库链接，自动整理有限历史，连接证据，并让答案回到冻结原文。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50884-E63E-42CF-BE92-43C7E8B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材料定稿：2026-10-30 · 课堂日期以课程通知为准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3F26-5B02-4097-98CC-C9970954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六角色协作 · P1–P6</a:t>
            </a:r>
          </a:p>
        </p:txBody>
      </p:sp>
    </p:spTree>
    <p:extLst>
      <p:ext uri="{BB962C8B-B14F-4D97-AF65-F5344CB8AC3E}">
        <p14:creationId xmlns:p14="http://schemas.microsoft.com/office/powerpoint/2010/main" val="1124118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81917-79CF-4889-81B4-49F6AFE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研究问题：代码说明结果，历史解释为什么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E9FA5-2A3E-425A-B75B-40F7097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AB2A9-0EA9-490A-86B2-B50CDCD5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67479-8F6C-46E1-91B9-1D125DC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6DB47-EAF8-486A-AD7D-D134A37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E4ED0-681F-4564-B355-C43A2D0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当前代码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BF4BB-1233-4168-80CB-50FCE2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系统怎样运行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969F-D52C-4792-888B-668B736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FFE71-FF60-43B3-8ADB-9EAB8E2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Issue / PR /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32049-906F-4670-B1B6-917B950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为什么这样改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F96BD-4F3A-4878-90FD-D489355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11C3A-ABD7-4867-97B0-CE51B3BB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Commit /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4CF96-1B60-4C64-A91C-0EB52427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实际改了什么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D7E82-74CA-40C6-A8FF-DF4C7923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793B9-6260-4283-B78F-BB30734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D5693-E35A-47A6-A9E8-A736903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何时进入版本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53431-FD9B-469A-9943-391478D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B1C77-4BD4-4E0A-BC65-D7FD102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225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RQ1 知识抽取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D93B4-4D59-43D9-86A4-1860207C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38350"/>
            <a:ext cx="552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能否从完整讨论中抽取属于本项目的决定、采用状态和明示理由，并保留可复算证据？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2C1AC-E40C-422D-9E2F-665BF3DB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25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RQ2 图增强问答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E38A3-A3CF-49E1-B1D4-878F072B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在相同来源、模型、提示和上下文预算下，图路径扩展是否改善跨来源问答？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7A995-5515-4D74-8023-8542C370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83BFB-C91F-4FF6-8073-D8CC6025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边界：一个公开 Python 仓库 · 有限近期历史 · 不执行目标源码 · 不训练基础模型 · 模型银标不等于人工金标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11697-7CDA-49A1-B786-2E694D72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目标不是更大的图，而是可核对、可复用的答案。</a:t>
            </a:r>
          </a:p>
        </p:txBody>
      </p:sp>
    </p:spTree>
    <p:extLst>
      <p:ext uri="{BB962C8B-B14F-4D97-AF65-F5344CB8AC3E}">
        <p14:creationId xmlns:p14="http://schemas.microsoft.com/office/powerpoint/2010/main" val="1804128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DE69A-6088-4B9C-AC87-7EA4869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自动URL流程：一次输入，六阶段可恢复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35A3-3C4A-41C7-BE11-62E8C5BD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5098A-7900-4065-A801-E30182F5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81319-7125-4281-BB16-07607C32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CB838-FA7E-4DF6-B157-852550C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9407A-4649-4FF6-B695-D923D7E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7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用户只提交 repo_url。P1 统一编排，阶段检查点支持暂停与恢复。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251B6-04CE-4D96-BC98-8FC7B5F2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015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7CC88-05D2-4CD7-940C-9EE2FCD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7926-4C01-4EA7-91A9-4C16DC2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发现仓库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EF98E-B8C9-48B9-BA21-CBE44D41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P1 · 公开性 / Python 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063B-31BC-496D-9FDC-68192FC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993F5-0E6F-4129-8D27-85E039EA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采集讨论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DF785-F8B9-4EEC-9157-90499E1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P1 + relore · 分页与完整单元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CF0AC-8CD8-4E5C-B943-86A249B3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D6582-2D7D-4E6E-8457-A40C54A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代码事实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65093-846E-4D38-9A9F-BA9FCE8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P3 · git / AST / 文件快照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02839-5648-4998-B029-A341899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97C74-95C8-498B-A107-71B7A7DB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抽取决定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5E1DD-EC33-49DC-93F8-66F6586C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P4 · Decision + 逐字引文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76A32-0B83-48C3-85AD-C0A9D40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81380-2B8D-4975-AD8A-12D88C90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校验冻结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6E176-A228-4F9E-BF13-14C6C73E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P1 · 原文 / 端点 / 哈希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26D70-DB54-4485-9DEC-EC97AEB0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85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E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29F40-69A2-49C0-83D8-AA9AADA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24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建图与问答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7E200-E9A7-496F-AA54-1C658E1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67050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P2 / P4 / P5 · 检索与出处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63A58-E175-4BD5-9C7A-B697BFDE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19075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4E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4EC0D-FE7E-43DA-9896-6E42AB5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95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输入只需 repo_url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1C283-18C2-41ED-B137-A168352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725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不要求填写 Issue、PR、SHA 或文件路径，也不人工补边。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42A3FF-1290-43FE-AC55-118CB65E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DCBCD2-A016-4FD5-9835-B48285E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自动范围：最多 40 个完整讨论单元、24 个文件快照、3 个 Release、300 次请求。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0AE98-6D00-4512-B3FF-427D919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未采到的事实进入 gaps；empty、unsupported、error 分开显示，不能把运行故障写成正确弃答。</a:t>
            </a:r>
          </a:p>
        </p:txBody>
      </p:sp>
    </p:spTree>
    <p:extLst>
      <p:ext uri="{BB962C8B-B14F-4D97-AF65-F5344CB8AC3E}">
        <p14:creationId xmlns:p14="http://schemas.microsoft.com/office/powerpoint/2010/main" val="1087181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63756-0E5D-4F12-914A-BC9CAEE3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Schema与证据：关系必须能回到原文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E2591-C2C7-4D71-ACB9-8B85B58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8D1E6-2AED-4FA9-AD40-9FA5C1C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9760E-D8C9-41A6-890C-C9B76939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EFCFD-5C12-4515-B23C-1F81D64D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4 / 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5E7E7-8114-4B52-A118-7FE4D4815DC5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59055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476500"/>
                <a:gridCol w="2000250"/>
              </a:tblGrid>
              <a:tr h="40005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实体（含 P3 增量）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关键字段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证据入口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Project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repo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GitHub API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Issue / PullRequest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number, state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body / comment / events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Commit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full SHA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git / API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File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path + commit SHA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冻结源码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Release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tag + commit SHA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release notes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Decision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subject, action, status, rationale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逐字引文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Developer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GitHub id / login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PR JSON user / merged_by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Function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qualified_name + SHA + line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AST function signature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3E200-9354-4570-8258-69E5FB1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04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210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Evidence 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4D98C-92FC-4A01-B659-1F97E61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text[start:end] == quote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A7DD7-81B5-40FB-98E3-ADE6658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0-based Unicode 码点 · 左闭右开</a:t>
            </a:r>
          </a:p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source_id + text_sha256 +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AE2E4-89AC-47CA-9DD1-D1C46C06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1467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97F0D-758C-4E40-A2AB-24AE47F6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P3 增量 · 新数据版本只读重放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2A2D7-5A6A-4C8C-BAC7-CD23381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18 Developer  ·  384 Function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0BD26-8AAE-45E3-A736-20726E5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Authored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56585-643A-4173-A018-ECFA0C27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264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Developer → PullRequest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950E8-FBDC-48DB-855B-6E3F797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767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Merged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4B47B-2A8F-4800-9911-553AD04D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6725"/>
            <a:ext cx="264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Developer → PullRequest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F2BF0-F7A5-405F-8871-BF8B994F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13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Defines 384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3A24E-EF93-488C-B4E0-61E12092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00575"/>
            <a:ext cx="264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13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File → Function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470E6-BAEB-4C85-A3BD-AF40448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20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PR→Commit 仍为 P1 的 MergedAs；不生成 Developer→Commit。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6742A-3685-4B5F-B954-FAB697B8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语义护栏：ClaimsToClose 仅是声明，Closes 需官方事件；MentionsPR 仅是提及，ReachableIn 需 git 证明。</a:t>
            </a:r>
          </a:p>
          <a:p xmlns:a="http://schemas.openxmlformats.org/drawingml/2006/main">
            <a:pPr algn="l">
              <a:def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388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Decision 状态不自动等于功能已修复。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73B78-C21A-4343-96FA-3486604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旧 1.4.1 生产图保持只读；Developer/Function 增量来自新数据版本重放，不是原地补写。</a:t>
            </a:r>
          </a:p>
        </p:txBody>
      </p:sp>
    </p:spTree>
    <p:extLst>
      <p:ext uri="{BB962C8B-B14F-4D97-AF65-F5344CB8AC3E}">
        <p14:creationId xmlns:p14="http://schemas.microsoft.com/office/powerpoint/2010/main" val="244018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2D0071-1B66-4144-AC16-2225344C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真实数据集范围：369条来源，40个完整讨论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910AB-4821-458B-B197-BE5C4D04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A591B-C629-4E90-8198-368F3B78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3655E-3E92-4249-BC4C-7389B69E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016AD-610A-4D59-93FF-F39D99C2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6062E-4C52-466A-88C4-641119FA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369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60D95-BC81-4397-996F-90DA053E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冻结来源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4283C-DE25-4429-8F7A-93DC8926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95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0182A-65C1-4C44-A747-F5270C1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完整讨论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FC757-7158-457E-8C7C-8B8C41B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1AA90-7A85-4525-90EB-BDF2E6E8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文件快照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2A002-12FF-4896-AEE2-D0C01BB9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133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3CCD4-6CEE-4710-87A9-7193A663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业务实体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79D67-86BF-4B16-AE38-38B13C77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183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65E3E-4E0F-486E-BED7-2D6F986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C0A8C-1752-4DFD-A3DB-80A4AB80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7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552B0-EBC4-4BAA-8D26-A5E343E3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6BAB2-A0BE-4540-A8BD-5103FC55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FB816-D73E-4EF3-BAE7-83DC8318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61 Decision 已包含在 133 个实体中，不重复相加。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D8467-90C9-4D2F-97A6-CF27465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已采记录：2019-05-10 至 2026-10-27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A0A9F-C4AA-42BB-A066-C281CA7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profile：course_small_v1 · 同一真实 job 已 ready/index_graph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89C31-9B8B-4DC2-9D55-1DEE685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529590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C4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38F26-FA69-4019-B922-A47AAE883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33580e33d43d7"/>
          <a:stretch xmlns:a="http://schemas.openxmlformats.org/drawingml/2006/main"/>
        </p:blipFill>
        <p:spPr>
          <a:xfrm xmlns:a="http://schemas.openxmlformats.org/drawingml/2006/main">
            <a:off x="6267450" y="1495425"/>
            <a:ext cx="5181600" cy="29146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BC67D-B186-46FF-923E-BFF39E8E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真实页面截图：ready / index_graph，2026-10-30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0D736-5218-4F8F-BFFA-B9F51E96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33950"/>
            <a:ext cx="529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页面同时显示 584 项覆盖缺口与限制：关联讨论超限 13、版本可达未确认 12、外部依赖或未解析导入 374、未采导入目标 181。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438E87-438B-4CF9-AB12-905C95F6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有限近期采样不是 Flask 全历史；584 项覆盖缺口/限制不等同于 584 个事实错误。</a:t>
            </a:r>
          </a:p>
        </p:txBody>
      </p:sp>
    </p:spTree>
    <p:extLst>
      <p:ext uri="{BB962C8B-B14F-4D97-AF65-F5344CB8AC3E}">
        <p14:creationId xmlns:p14="http://schemas.microsoft.com/office/powerpoint/2010/main" val="1794393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D1F0F-3119-44B4-BF33-C2453C36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跨源演化：从 IPv6 Issue 到函数实体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95E60-EB0A-479A-BBEA-06268E3A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B1542-E167-4B93-A358-3FEA3E7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5B05-635C-40EE-B186-AB8C124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BC3A7-58C0-4403-98C2-C0627436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28943-254F-4241-BFE5-097CE394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演化链：Issue #6093（07-13）→ PR #6096（07-14）→ 08-11 合并 → 05e9c6b → testing.py → _get_werkzeug_version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57ECE-9EE0-45B9-9D9E-0D45E123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8CC"/>
          </a:solidFill>
          <a:ln xmlns:a="http://schemas.openxmlformats.org/drawingml/2006/main" w="9525">
            <a:solidFill>
              <a:srgbClr val="C24E2A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PullRequest #6096</a:t>
            </a:r>
          </a:p>
          <a:p xmlns:a="http://schemas.openxmlformats.org/drawingml/2006/main">
            <a: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Authored：lkk7 → PR</a:t>
            </a:r>
          </a:p>
          <a:p xmlns:a="http://schemas.openxmlformats.org/drawingml/2006/main">
            <a: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Merged：davidism → 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FAACA-7972-4770-B435-DFC170A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95600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E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DD2B7-572D-4772-8A71-536F3AC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860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MergedAs（P1）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36779-1044-42FB-9557-60E0C70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CEC4B4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Commit · 05e9c6b</a:t>
            </a:r>
          </a:p>
          <a:p xmlns:a="http://schemas.openxmlformats.org/drawingml/2006/main">
            <a: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05e9c6bd630ecf4ec0ec884b1fc7901663737bc7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F5CEF-2607-4A47-9744-FEFB00D9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00500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6E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5B957-FCA6-40EC-B86A-96BF415C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Touches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233E9-4F07-4227-832F-5C0DA7DA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CEC4B4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File · src/flask/testing.py</a:t>
            </a:r>
          </a:p>
          <a:p xmlns:a="http://schemas.openxmlformats.org/drawingml/2006/main">
            <a:pPr algn="ctr">
              <a:def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同 SHA 的冻结文件快照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9B7E5-5B7E-44ED-AA8D-06A5D87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Defines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2F0DD-B21A-427B-A499-B741F50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E6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CC5FC-FD9D-4A01-AF55-1D23BF7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607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2F6E69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Function · flask.testing._get_werkzeug_version</a:t>
            </a:r>
          </a:p>
          <a:p xmlns:a="http://schemas.openxmlformats.org/drawingml/2006/main">
            <a:pPr algn="ctr">
              <a:def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L100–106 · “def _get_werkzeug_version() -&gt; str:”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BCB40-8AF6-45CF-9F3F-09505E1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65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这个案例证明了什么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1616D-5F97-45ED-8884-53AA51C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讨论身份、合并动作、代码树与函数实体来自不同来源。</a:t>
            </a:r>
          </a:p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每跳都有字段/关系/偏移证据，不靠标题或共现补边。</a:t>
            </a:r>
          </a:p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Developer 只连 PullRequest；没有 Developer→Commit。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5031C-49A9-4A27-A2CE-A007F712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57800"/>
            <a:ext cx="607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CEC4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D4D77-A48C-4DFF-B9FC-057170A8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53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35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证据落点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F5890-3C9C-4A1B-B23C-33DDC896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569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Authored / Merged：PR API 的 user / merged_by</a:t>
            </a:r>
          </a:p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Defines：签名 [3179, 3214) · File → Function</a:t>
            </a:r>
          </a:p>
          <a:p xmlns:a="http://schemas.openxmlformats.org/drawingml/2006/main">
            <a:pPr algn="l">
              <a:def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238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FlaskClient 是 ClassDef，不计入 Function。</a:t>
            </a:r>
          </a:p>
        </p:txBody>
      </p:sp>
    </p:spTree>
    <p:extLst>
      <p:ext uri="{BB962C8B-B14F-4D97-AF65-F5344CB8AC3E}">
        <p14:creationId xmlns:p14="http://schemas.microsoft.com/office/powerpoint/2010/main" val="1861434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8DEF2-4B31-4522-A130-A025EC1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原型问答：6条claims逐条对应冻结源码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DBE3F-92EC-441D-88E7-F6D41D89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19856-2B77-487B-9BDC-EEF155D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C3321-7979-4BC3-A25C-12871F2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DC9A8-0B8E-4E85-8F18-F65B182D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EB8D-3D47-4EB7-9999-7E2CA6FC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问：FlaskClient.session_transaction 承担什么职责？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27A1D-DF96-4DE0-91A8-2ADB2D3F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上下文管理器，打开会话事务，离开 with 后存回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CB6F-F2C7-4D31-B783-7FC21DA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14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证据 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0B911-0DBE-4254-8DCC-F3BB34EA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A2FEF-1ECB-4B0A-BDFF-9967EB7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创建临时请求上下文，把 Cookie 加入 WSGI environ，再打开会话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1C696-4AA5-4622-8CD5-67ACF217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813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证据 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85C1-A5BA-4114-A54B-408D7F9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C78CE-69BD-4510-8132-EDD5A08D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null session 直接返回，否则调用 save_session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6C1C0-9EAA-4F4D-8CD2-92EF1A7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480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证据 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B277F-73CF-4D5D-BC0A-8ED28C6C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F0F40-82F6-4193-8690-E52FB8B1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用 Set-Cookie 更新客户端，主机名取 ctx.request.host.partition(':')[0]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86A1A-9991-4D2E-BBE1-31950A2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148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27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证据 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9EF59-8277-440C-82CF-735EE8F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共 6 条 claims；页面按原顺序展示，不另写摘要。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784A2-0092-4550-8952-A462E403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838700" cy="275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C4B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0CDF6-128F-4866-A0F4-5D5B5D4CB7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821fd213d43e5"/>
          <a:stretch xmlns:a="http://schemas.openxmlformats.org/drawingml/2006/main"/>
        </p:blipFill>
        <p:spPr>
          <a:xfrm xmlns:a="http://schemas.openxmlformats.org/drawingml/2006/main">
            <a:off x="6741583" y="1495425"/>
            <a:ext cx="4690533" cy="26384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0DA9B-1439-4005-A094-395D791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真实作业页面截图，2026-10-30；重放不调用模型。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8771C-DA9E-4F83-9D28-62616439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425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证据 36 · src/flask/testing.py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7D76F-9F11-4737-B54F-7652171A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[5886, 6057) · Unicode 码点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E0AA7-2FDC-4E7E-B025-26397113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SourceDocument:c06330ce…ed37a43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D25DD-FA22-4608-AF92-A8BE02C9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7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dataset:810db371…5cd00c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979AE-6B23-4184-8787-775A7DF5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QueryResult 保留 ok、empty、unsupported、error 四种状态；本次另有 empty 响应原样保留。</a:t>
            </a:r>
          </a:p>
        </p:txBody>
      </p:sp>
    </p:spTree>
    <p:extLst>
      <p:ext uri="{BB962C8B-B14F-4D97-AF65-F5344CB8AC3E}">
        <p14:creationId xmlns:p14="http://schemas.microsoft.com/office/powerpoint/2010/main" val="150811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91AD7-E728-4FDF-85E3-87CCCC19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抽取实验：测试集高召回，但精度只有 0.568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91E0-98AF-4C6E-9BF2-9C63597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F3CBE-B2CF-4B9F-8DD9-8A5F7360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5E6B5-5E8D-41AB-AC12-3D5CCCE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9FBF-ABC7-4D08-B426-9AC38E2C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8 /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13326DE-8961-4D8D-A543-19C9AD12AD4C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9cfb6cfe82482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D6772-A6EB-448A-A928-8A02D794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0.714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F74C3-CE89-4834-ABC3-C306E3DE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测试集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F35B9-E21D-49C5-99CB-FE69EEE4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5F54-7940-4DE9-9C60-BFC3436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TP / FP / FN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92A9E-D413-4B2C-9842-E21C436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25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25 / 19 /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3CEE1-C77E-4CEF-B604-2CA44423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明示理由覆盖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0BFF4-0E35-4458-9798-8B5D9756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21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13 / 15 = 0.867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B2D85-AA12-4BEB-992C-389C61C2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9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开发集 F1 0.690 · 理由 9/11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A8A95-0B57-43A1-A8C6-D5E8F2BE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425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评测口径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1C357-D6D2-43C9-8DD6-CB29165C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244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独立模型银标与复核；非人工金标。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03A8E-BADD-4166-9B3A-CFD9DB21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19 个 FP 是相对冻结银标的未匹配预测，可能含银标遗漏，但不能忽略这一精度差距。</a:t>
            </a:r>
          </a:p>
        </p:txBody>
      </p:sp>
    </p:spTree>
    <p:extLst>
      <p:ext uri="{BB962C8B-B14F-4D97-AF65-F5344CB8AC3E}">
        <p14:creationId xmlns:p14="http://schemas.microsoft.com/office/powerpoint/2010/main" val="756635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DB922-A7F7-4D59-80A5-CEEA82D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A/B对照：配对平均差+0.157，区间跨零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917F-6CDC-4449-A473-1BAB665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0C686-1BBC-4AF7-85E2-E0863AA1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AFC1C5"/>
                </a:solidFill>
                <a:latin typeface="Songti SC"/>
                <a:ea typeface="Songti SC"/>
                <a:cs typeface="Songti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74F68-7ABB-474A-9821-FE3607C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3457C-259D-4659-8ADF-8A771D26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AFC1C5"/>
                </a:solidFill>
                <a:latin typeface="Songti SC"/>
                <a:ea typeface="Songti SC"/>
                <a:cs typeface="Songti SC"/>
              </a:rPr>
              <a:t>9 / 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BF1BE-9009-42E4-A8FE-B6B2A30E6DA8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66675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381125"/>
                <a:gridCol w="1381125"/>
                <a:gridCol w="1905000"/>
              </a:tblGrid>
              <a:tr h="419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指标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4A626A"/>
                      </a:solidFill>
                      <a:prstDash val="solid"/>
                    </a:lnL>
                    <a:lnR w="7620">
                      <a:solidFill>
                        <a:srgbClr val="4A626A"/>
                      </a:solidFill>
                      <a:prstDash val="solid"/>
                    </a:lnR>
                    <a:lnT w="7620">
                      <a:solidFill>
                        <a:srgbClr val="4A626A"/>
                      </a:solidFill>
                      <a:prstDash val="solid"/>
                    </a:lnT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244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A 检索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T w="7620">
                      <a:solidFill>
                        <a:srgbClr val="4A626A"/>
                      </a:solidFill>
                      <a:prstDash val="solid"/>
                    </a:lnT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244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B 图扩展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T w="7620">
                      <a:solidFill>
                        <a:srgbClr val="4A626A"/>
                      </a:solidFill>
                      <a:prstDash val="solid"/>
                    </a:lnT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244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观察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T w="7620">
                      <a:solidFill>
                        <a:srgbClr val="4A626A"/>
                      </a:solidFill>
                      <a:prstDash val="solid"/>
                    </a:lnT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2441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总体事实覆盖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4A626A"/>
                      </a:solidFill>
                      <a:prstDash val="solid"/>
                    </a:lnL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0.600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0.740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+0.140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证据组召回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4A626A"/>
                      </a:solidFill>
                      <a:prstDash val="solid"/>
                    </a:lnL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0.636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0.691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+0.055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无依据断言率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4A626A"/>
                      </a:solidFill>
                      <a:prstDash val="solid"/>
                    </a:lnL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0.026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0.043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更高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B37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中位延迟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4A626A"/>
                      </a:solidFill>
                      <a:prstDash val="solid"/>
                    </a:lnL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2.285 s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2.688 s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7F1E6"/>
                          </a:solidFill>
                          <a:latin typeface="Songti SC"/>
                          <a:ea typeface="Songti SC"/>
                          <a:cs typeface="Songti SC"/>
                        </a:rPr>
                        <a:t>+0.403 s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4A626A"/>
                      </a:solidFill>
                      <a:prstDash val="solid"/>
                    </a:lnR>
                    <a:lnB w="7620">
                      <a:solidFill>
                        <a:srgbClr val="4A626A"/>
                      </a:solidFill>
                      <a:prstDash val="solid"/>
                    </a:lnB>
                    <a:solidFill>
                      <a:srgbClr val="1731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20C09-8F1B-4CEF-9096-5E3E62EC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04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15题配对平均事实覆盖差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4CE4F-B998-47F8-A8E3-FE8DE11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525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+0.157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6FBC8-FB9A-4C54-ACE1-BB870F65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425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95% 描述性 bootstrap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09AEA-564D-4756-991F-403CFBB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950" b="1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[-0.122, 0.457]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04169-D105-46DA-86E0-EB10A51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500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区间跨零 · B胜5 / A胜4 / 平6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28FB-0E3E-4F20-995D-2FFD3BD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E07ED-E221-4E8E-92B5-7355CD9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正确弃答率 N/A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40E05-5BD2-4C9C-B4F4-6AF63E96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defRPr>
            </a:pPr>
            <a:r>
              <a:rPr sz="1050" b="0" i="0">
                <a:solidFill>
                  <a:srgbClr val="8FA6AB"/>
                </a:solidFill>
                <a:latin typeface="Songti SC"/>
                <a:ea typeface="Songti SC"/>
                <a:cs typeface="Songti SC"/>
              </a:rPr>
              <a:t>P6 状态区 · 78eaa07 最终公开汇总</a:t>
            </a:r>
          </a:p>
        </p:txBody>
      </p:sp>
      <p:sp>
        <p:nvSpPr>
          <p:cNvPr id="15" name="p6-status-update">
            <a:extLst xmlns:a="http://schemas.openxmlformats.org/drawingml/2006/main">
              <a:ext uri="{FF2B5EF4-FFF2-40B4-BE49-F238E27FC236}">
                <a16:creationId xmlns:a16="http://schemas.microsoft.com/office/drawing/2014/main" id="{106413D4-94E8-43A5-860D-BC83DF8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全池 46批×2=92位置均成功；6题各两遍核验；确认证据不足0；正确弃答率N/A（分母0）。</a:t>
            </a:r>
          </a:p>
          <a:p xmlns:a="http://schemas.openxmlformats.org/drawingml/2006/main">
            <a: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48 答案：32 ok / 15 empty / 1 error · itsdangerous：347来源/30讨论/82实体/78关系/180证据。</a:t>
            </a:r>
          </a:p>
          <a:p xmlns:a="http://schemas.openxmlformats.org/drawingml/2006/main">
            <a: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itsdangerous 为 partial（保留记录缺口），但 validate/graph/retrieval ready；依赖查询 50路径/25证据/5 claims，出处全通过。</a:t>
            </a:r>
          </a:p>
          <a:p xmlns:a="http://schemas.openxmlformats.org/drawingml/2006/main">
            <a:pPr algn="l">
              <a:def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defRPr>
            </a:pPr>
            <a:r>
              <a:rPr sz="1110" b="0" i="0">
                <a:solidFill>
                  <a:srgbClr val="F7F1E6"/>
                </a:solidFill>
                <a:latin typeface="Songti SC"/>
                <a:ea typeface="Songti SC"/>
                <a:cs typeface="Songti SC"/>
              </a:rPr>
              <a:t>预算累计 9.465795 / 剩余 10.374205。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46E42-B37B-4E77-8F81-E9AF9496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02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不宣称图谱显著胜出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19BA8-96C4-4223-A5ED-8E64E57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残余：单一 Flask · 模型银标 · 小样本 · 图扩展增加无依据断言 · Windows 字体替换未验证 · 课堂彩排</a:t>
            </a:r>
          </a:p>
          <a:p xmlns:a="http://schemas.openxmlformats.org/drawingml/2006/main">
            <a:pPr algn="l">
              <a:def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defRPr>
            </a:pPr>
            <a:r>
              <a:rPr sz="1050" b="0" i="0">
                <a:solidFill>
                  <a:srgbClr val="B9C8CA"/>
                </a:solidFill>
                <a:latin typeface="Songti SC"/>
                <a:ea typeface="Songti SC"/>
                <a:cs typeface="Songti SC"/>
              </a:rPr>
              <a:t>P2 已在真实 Neo4j 完成扩展分片四跳验收；生产图仍为旧 1.4.1，新增实体来自真实新数据版本重放。</a:t>
            </a:r>
          </a:p>
        </p:txBody>
      </p:sp>
    </p:spTree>
    <p:extLst>
      <p:ext uri="{BB962C8B-B14F-4D97-AF65-F5344CB8AC3E}">
        <p14:creationId xmlns:p14="http://schemas.microsoft.com/office/powerpoint/2010/main" val="1113933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1BE39-D848-4B74-B9D9-D8BEA1E1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复现、贡献与结论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325BC-00B0-4363-B795-9CB74B0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6AD05-D6BD-4A13-86E4-C8C4CF4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9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DE09E-4108-4712-BFD3-2D4B2695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基于 relore · Flask 冻结集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DCEBC-A14D-478A-8FEC-3D3ACF0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10 / 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F76E9-3B94-4C34-BAFB-F9E44A04DFD0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723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4457700"/>
                <a:gridCol w="2000250"/>
              </a:tblGrid>
              <a:tr h="419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角色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主要贡献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Songti SC"/>
                          <a:ea typeface="Songti SC"/>
                          <a:cs typeface="Songti SC"/>
                        </a:rPr>
                        <a:t>姓名 / 学号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T w="7620">
                      <a:solidFill>
                        <a:srgbClr val="CEC4B4"/>
                      </a:solidFill>
                      <a:prstDash val="solid"/>
                    </a:lnT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172D36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P1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URL 编排、冻结与 IO、总集成、跨平台复现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P2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Neo4j 导入、同源检索、QueryResult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P3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git / AST 提交、文件与版本事实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P4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relore 移植、采集器、抽取、统一回答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P5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Streamlit 原型、证据展示、期末材料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2ECE2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P6</a:t>
                      </a:r>
                    </a:p>
                  </a:txBody>
                  <a:tcPr marL="95250" marR="95250" marT="47625" marB="47625">
                    <a:lnL w="7620">
                      <a:solidFill>
                        <a:srgbClr val="CEC4B4"/>
                      </a:solidFill>
                      <a:prstDash val="solid"/>
                    </a:lnL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>独立参考、A/B 隔离、评分与统计</a:t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172D36"/>
                          </a:solidFill>
                          <a:latin typeface="Songti SC"/>
                          <a:ea typeface="Songti SC"/>
                          <a:cs typeface="Songti SC"/>
                        </a:rPr>
                        <a:t/>
                      </a:r>
                    </a:p>
                  </a:txBody>
                  <a:tcPr marL="95250" marR="95250" marT="47625" marB="47625">
                    <a:lnR w="7620">
                      <a:solidFill>
                        <a:srgbClr val="CEC4B4"/>
                      </a:solidFill>
                      <a:prstDash val="solid"/>
                    </a:lnR>
                    <a:lnB w="7620">
                      <a:solidFill>
                        <a:srgbClr val="CEC4B4"/>
                      </a:solidFill>
                      <a:prstDash val="solid"/>
                    </a:lnB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10069-4235-450D-8844-0C55AA6A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2325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5A91-E28E-47EF-9E14-7B66B9F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可运行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3FD1E-F797-455E-895D-93D0E890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URL → 采集 → 抽取 → 图 → 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B0CC2-609D-4D83-86D8-E5DE44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94DED-EF70-426A-9F77-D84D96D5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claim → evidence → hash → 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97CBD-42F6-4CA9-AD1F-84E98C1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290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defRPr>
            </a:pPr>
            <a:r>
              <a:rPr sz="1500" b="1" i="0">
                <a:solidFill>
                  <a:srgbClr val="2F6E69"/>
                </a:solidFill>
                <a:latin typeface="Songti SC"/>
                <a:ea typeface="Songti SC"/>
                <a:cs typeface="Songti SC"/>
              </a:rPr>
              <a:t>可复现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2FADF-E6AC-42F8-99F8-067DD31E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冻结包与统计代码；在线重跑需本人 API 与预算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F88BD-71E1-46E6-91E2-7A9943D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E9C90-57CE-4CFE-86C1-55337D4F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defRPr>
            </a:pPr>
            <a:r>
              <a:rPr sz="1500" b="1" i="0">
                <a:solidFill>
                  <a:srgbClr val="C24E2A"/>
                </a:solidFill>
                <a:latin typeface="Songti SC"/>
                <a:ea typeface="Songti SC"/>
                <a:cs typeface="Songti SC"/>
              </a:rPr>
              <a:t>仍未给出一般结论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B98A3-E36E-42E4-AB47-C40862AD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defRPr>
            </a:pPr>
            <a:r>
              <a:rPr sz="1350" b="0" i="0">
                <a:solidFill>
                  <a:srgbClr val="172D36"/>
                </a:solidFill>
                <a:latin typeface="Songti SC"/>
                <a:ea typeface="Songti SC"/>
                <a:cs typeface="Songti SC"/>
              </a:rPr>
              <a:t>图谱收益、正确弃答率（分母 0）、跨仓库泛化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43B5-C487-4ACC-99B6-B70DB00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P2 已在真实 Neo4j 完成扩展分片四跳验收；生产图仍为旧 1.4.1，新实体来自真实新数据版本重放。</a:t>
            </a:r>
          </a:p>
          <a:p xmlns:a="http://schemas.openxmlformats.org/drawingml/2006/main">
            <a:pPr algn="l">
              <a:def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4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下一步：Windows 字体替换、课堂彩排。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F3A46-6CDA-4A89-BB60-13BD0051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200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UI/归档 21 项通过 · ruff 通过 · macOS PowerPoint 原生复核通过。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BF177-BC2C-4133-9DF7-A5A9C624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defRPr>
            </a:pPr>
            <a:r>
              <a:rPr sz="1125" b="0" i="0">
                <a:solidFill>
                  <a:srgbClr val="617077"/>
                </a:solidFill>
                <a:latin typeface="Songti SC"/>
                <a:ea typeface="Songti SC"/>
                <a:cs typeface="Songti SC"/>
              </a:rPr>
              <a:t>P4 前期独立调研、总体方案、架构、协作框架、探索性试跑与采集器移植保留原贡献归属。</a:t>
            </a:r>
          </a:p>
        </p:txBody>
      </p:sp>
    </p:spTree>
    <p:extLst>
      <p:ext uri="{BB962C8B-B14F-4D97-AF65-F5344CB8AC3E}">
        <p14:creationId xmlns:p14="http://schemas.microsoft.com/office/powerpoint/2010/main" val="263178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2026-10-30T08:03:20.3250000Z</dcterms:created>
  <dcterms:modified xsi:type="dcterms:W3CDTF">2026-10-30T08:03:20.3250000Z</dcterms:modified>
</coreProperties>
</file>